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14211300" cy="20104100"/>
  <p:notesSz cx="14211300" cy="201041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100" d="100"/>
          <a:sy n="100" d="100"/>
        </p:scale>
        <p:origin x="54" y="-4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066323" y="6232271"/>
            <a:ext cx="12085003" cy="422186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132647" y="11258296"/>
            <a:ext cx="9952355" cy="50260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12/26/2025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12/26/2025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710882" y="4623943"/>
            <a:ext cx="6184678" cy="1326870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7322089" y="4623943"/>
            <a:ext cx="6184678" cy="1326870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12/26/2025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12/26/2025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12/26/2025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13" Type="http://schemas.openxmlformats.org/officeDocument/2006/relationships/image" Target="../media/image7.png"/><Relationship Id="rId18" Type="http://schemas.openxmlformats.org/officeDocument/2006/relationships/image" Target="../media/image12.png"/><Relationship Id="rId26" Type="http://schemas.openxmlformats.org/officeDocument/2006/relationships/image" Target="../media/image20.png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15.png"/><Relationship Id="rId7" Type="http://schemas.openxmlformats.org/officeDocument/2006/relationships/image" Target="../media/image1.png"/><Relationship Id="rId12" Type="http://schemas.openxmlformats.org/officeDocument/2006/relationships/image" Target="../media/image6.png"/><Relationship Id="rId17" Type="http://schemas.openxmlformats.org/officeDocument/2006/relationships/image" Target="../media/image11.png"/><Relationship Id="rId25" Type="http://schemas.openxmlformats.org/officeDocument/2006/relationships/image" Target="../media/image19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0.png"/><Relationship Id="rId20" Type="http://schemas.openxmlformats.org/officeDocument/2006/relationships/image" Target="../media/image14.png"/><Relationship Id="rId29" Type="http://schemas.openxmlformats.org/officeDocument/2006/relationships/image" Target="../media/image23.png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11" Type="http://schemas.openxmlformats.org/officeDocument/2006/relationships/image" Target="../media/image5.png"/><Relationship Id="rId24" Type="http://schemas.openxmlformats.org/officeDocument/2006/relationships/image" Target="../media/image18.png"/><Relationship Id="rId32" Type="http://schemas.openxmlformats.org/officeDocument/2006/relationships/image" Target="../media/image26.png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9.png"/><Relationship Id="rId23" Type="http://schemas.openxmlformats.org/officeDocument/2006/relationships/image" Target="../media/image17.png"/><Relationship Id="rId28" Type="http://schemas.openxmlformats.org/officeDocument/2006/relationships/image" Target="../media/image22.png"/><Relationship Id="rId10" Type="http://schemas.openxmlformats.org/officeDocument/2006/relationships/image" Target="../media/image4.png"/><Relationship Id="rId19" Type="http://schemas.openxmlformats.org/officeDocument/2006/relationships/image" Target="../media/image13.png"/><Relationship Id="rId31" Type="http://schemas.openxmlformats.org/officeDocument/2006/relationships/image" Target="../media/image25.png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3.png"/><Relationship Id="rId14" Type="http://schemas.openxmlformats.org/officeDocument/2006/relationships/image" Target="../media/image8.png"/><Relationship Id="rId22" Type="http://schemas.openxmlformats.org/officeDocument/2006/relationships/image" Target="../media/image16.png"/><Relationship Id="rId27" Type="http://schemas.openxmlformats.org/officeDocument/2006/relationships/image" Target="../media/image21.png"/><Relationship Id="rId30" Type="http://schemas.openxmlformats.org/officeDocument/2006/relationships/image" Target="../media/image24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67266">
              <a:srgbClr val="B6CBE3"/>
            </a:gs>
            <a:gs pos="0">
              <a:schemeClr val="accent1">
                <a:lumMod val="5000"/>
                <a:lumOff val="95000"/>
              </a:schemeClr>
            </a:gs>
            <a:gs pos="23000">
              <a:srgbClr val="DCE6F2"/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4208125" cy="20099020"/>
          </a:xfrm>
          <a:custGeom>
            <a:avLst/>
            <a:gdLst/>
            <a:ahLst/>
            <a:cxnLst/>
            <a:rect l="l" t="t" r="r" b="b"/>
            <a:pathLst>
              <a:path w="14208125" h="20099020">
                <a:moveTo>
                  <a:pt x="14208077" y="20099012"/>
                </a:moveTo>
                <a:lnTo>
                  <a:pt x="0" y="20099012"/>
                </a:lnTo>
                <a:lnTo>
                  <a:pt x="0" y="0"/>
                </a:lnTo>
                <a:lnTo>
                  <a:pt x="14208077" y="0"/>
                </a:lnTo>
                <a:lnTo>
                  <a:pt x="14208077" y="20099012"/>
                </a:lnTo>
                <a:close/>
              </a:path>
            </a:pathLst>
          </a:custGeom>
          <a:solidFill>
            <a:srgbClr val="E4EC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1364280" y="14553821"/>
            <a:ext cx="11323320" cy="0"/>
          </a:xfrm>
          <a:custGeom>
            <a:avLst/>
            <a:gdLst/>
            <a:ahLst/>
            <a:cxnLst/>
            <a:rect l="l" t="t" r="r" b="b"/>
            <a:pathLst>
              <a:path w="11323320">
                <a:moveTo>
                  <a:pt x="0" y="0"/>
                </a:moveTo>
                <a:lnTo>
                  <a:pt x="11322708" y="0"/>
                </a:lnTo>
              </a:path>
            </a:pathLst>
          </a:custGeom>
          <a:ln w="17905">
            <a:solidFill>
              <a:srgbClr val="457C9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1440255" y="11131912"/>
            <a:ext cx="11341735" cy="0"/>
          </a:xfrm>
          <a:custGeom>
            <a:avLst/>
            <a:gdLst/>
            <a:ahLst/>
            <a:cxnLst/>
            <a:rect l="l" t="t" r="r" b="b"/>
            <a:pathLst>
              <a:path w="11341735">
                <a:moveTo>
                  <a:pt x="0" y="0"/>
                </a:moveTo>
                <a:lnTo>
                  <a:pt x="11341296" y="0"/>
                </a:lnTo>
              </a:path>
            </a:pathLst>
          </a:custGeom>
          <a:ln w="17905">
            <a:solidFill>
              <a:srgbClr val="457C9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9" name="bg object 19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2745232" y="1563047"/>
            <a:ext cx="656119" cy="825925"/>
          </a:xfrm>
          <a:prstGeom prst="rect">
            <a:avLst/>
          </a:prstGeom>
        </p:spPr>
      </p:pic>
      <p:pic>
        <p:nvPicPr>
          <p:cNvPr id="20" name="bg object 20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0786638" y="1446758"/>
            <a:ext cx="678109" cy="862276"/>
          </a:xfrm>
          <a:prstGeom prst="rect">
            <a:avLst/>
          </a:prstGeom>
        </p:spPr>
      </p:pic>
      <p:pic>
        <p:nvPicPr>
          <p:cNvPr id="21" name="bg object 21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12527660" y="1990947"/>
            <a:ext cx="106665" cy="107025"/>
          </a:xfrm>
          <a:prstGeom prst="rect">
            <a:avLst/>
          </a:prstGeom>
        </p:spPr>
      </p:pic>
      <p:pic>
        <p:nvPicPr>
          <p:cNvPr id="22" name="bg object 22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12575195" y="1973710"/>
            <a:ext cx="76202" cy="76433"/>
          </a:xfrm>
          <a:prstGeom prst="rect">
            <a:avLst/>
          </a:prstGeom>
        </p:spPr>
      </p:pic>
      <p:sp>
        <p:nvSpPr>
          <p:cNvPr id="23" name="bg object 23"/>
          <p:cNvSpPr/>
          <p:nvPr/>
        </p:nvSpPr>
        <p:spPr>
          <a:xfrm>
            <a:off x="12393753" y="2376258"/>
            <a:ext cx="90805" cy="40005"/>
          </a:xfrm>
          <a:custGeom>
            <a:avLst/>
            <a:gdLst/>
            <a:ahLst/>
            <a:cxnLst/>
            <a:rect l="l" t="t" r="r" b="b"/>
            <a:pathLst>
              <a:path w="90804" h="40005">
                <a:moveTo>
                  <a:pt x="90559" y="39741"/>
                </a:moveTo>
                <a:lnTo>
                  <a:pt x="0" y="39741"/>
                </a:lnTo>
                <a:lnTo>
                  <a:pt x="0" y="0"/>
                </a:lnTo>
                <a:lnTo>
                  <a:pt x="90559" y="0"/>
                </a:lnTo>
                <a:lnTo>
                  <a:pt x="90559" y="39741"/>
                </a:lnTo>
                <a:close/>
              </a:path>
            </a:pathLst>
          </a:custGeom>
          <a:solidFill>
            <a:srgbClr val="0C2E3C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4" name="bg object 24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12099526" y="2044177"/>
            <a:ext cx="481041" cy="661384"/>
          </a:xfrm>
          <a:prstGeom prst="rect">
            <a:avLst/>
          </a:prstGeom>
        </p:spPr>
      </p:pic>
      <p:sp>
        <p:nvSpPr>
          <p:cNvPr id="25" name="bg object 25"/>
          <p:cNvSpPr/>
          <p:nvPr/>
        </p:nvSpPr>
        <p:spPr>
          <a:xfrm>
            <a:off x="12239507" y="2345019"/>
            <a:ext cx="349885" cy="20320"/>
          </a:xfrm>
          <a:custGeom>
            <a:avLst/>
            <a:gdLst/>
            <a:ahLst/>
            <a:cxnLst/>
            <a:rect l="l" t="t" r="r" b="b"/>
            <a:pathLst>
              <a:path w="349884" h="20319">
                <a:moveTo>
                  <a:pt x="349447" y="19870"/>
                </a:moveTo>
                <a:lnTo>
                  <a:pt x="0" y="19870"/>
                </a:lnTo>
                <a:lnTo>
                  <a:pt x="0" y="0"/>
                </a:lnTo>
                <a:lnTo>
                  <a:pt x="349447" y="0"/>
                </a:lnTo>
                <a:lnTo>
                  <a:pt x="349447" y="19870"/>
                </a:lnTo>
                <a:close/>
              </a:path>
            </a:pathLst>
          </a:custGeom>
          <a:solidFill>
            <a:srgbClr val="0C2E3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bg object 26"/>
          <p:cNvSpPr/>
          <p:nvPr/>
        </p:nvSpPr>
        <p:spPr>
          <a:xfrm>
            <a:off x="12357492" y="2407313"/>
            <a:ext cx="162560" cy="22860"/>
          </a:xfrm>
          <a:custGeom>
            <a:avLst/>
            <a:gdLst/>
            <a:ahLst/>
            <a:cxnLst/>
            <a:rect l="l" t="t" r="r" b="b"/>
            <a:pathLst>
              <a:path w="162559" h="22860">
                <a:moveTo>
                  <a:pt x="162345" y="22736"/>
                </a:moveTo>
                <a:lnTo>
                  <a:pt x="0" y="22736"/>
                </a:lnTo>
                <a:lnTo>
                  <a:pt x="0" y="0"/>
                </a:lnTo>
                <a:lnTo>
                  <a:pt x="162345" y="0"/>
                </a:lnTo>
                <a:lnTo>
                  <a:pt x="162345" y="22736"/>
                </a:lnTo>
                <a:close/>
              </a:path>
            </a:pathLst>
          </a:custGeom>
          <a:solidFill>
            <a:srgbClr val="A6A5B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bg object 27"/>
          <p:cNvSpPr/>
          <p:nvPr/>
        </p:nvSpPr>
        <p:spPr>
          <a:xfrm>
            <a:off x="12116459" y="2416000"/>
            <a:ext cx="153035" cy="153670"/>
          </a:xfrm>
          <a:custGeom>
            <a:avLst/>
            <a:gdLst/>
            <a:ahLst/>
            <a:cxnLst/>
            <a:rect l="l" t="t" r="r" b="b"/>
            <a:pathLst>
              <a:path w="153034" h="153669">
                <a:moveTo>
                  <a:pt x="81402" y="153422"/>
                </a:moveTo>
                <a:lnTo>
                  <a:pt x="71371" y="153422"/>
                </a:lnTo>
                <a:lnTo>
                  <a:pt x="66403" y="152930"/>
                </a:lnTo>
                <a:lnTo>
                  <a:pt x="29778" y="137695"/>
                </a:lnTo>
                <a:lnTo>
                  <a:pt x="3895" y="101413"/>
                </a:lnTo>
                <a:lnTo>
                  <a:pt x="0" y="81747"/>
                </a:lnTo>
                <a:lnTo>
                  <a:pt x="0" y="71674"/>
                </a:lnTo>
                <a:lnTo>
                  <a:pt x="15660" y="29904"/>
                </a:lnTo>
                <a:lnTo>
                  <a:pt x="51788" y="3911"/>
                </a:lnTo>
                <a:lnTo>
                  <a:pt x="71371" y="0"/>
                </a:lnTo>
                <a:lnTo>
                  <a:pt x="81402" y="0"/>
                </a:lnTo>
                <a:lnTo>
                  <a:pt x="122995" y="15726"/>
                </a:lnTo>
                <a:lnTo>
                  <a:pt x="148878" y="52008"/>
                </a:lnTo>
                <a:lnTo>
                  <a:pt x="152773" y="76711"/>
                </a:lnTo>
                <a:lnTo>
                  <a:pt x="152773" y="81747"/>
                </a:lnTo>
                <a:lnTo>
                  <a:pt x="137113" y="123517"/>
                </a:lnTo>
                <a:lnTo>
                  <a:pt x="100985" y="149510"/>
                </a:lnTo>
                <a:lnTo>
                  <a:pt x="81402" y="153422"/>
                </a:lnTo>
                <a:close/>
              </a:path>
            </a:pathLst>
          </a:custGeom>
          <a:solidFill>
            <a:srgbClr val="0C2E3C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8" name="bg object 28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12144713" y="2444374"/>
            <a:ext cx="96266" cy="96674"/>
          </a:xfrm>
          <a:prstGeom prst="rect">
            <a:avLst/>
          </a:prstGeom>
        </p:spPr>
      </p:pic>
      <p:sp>
        <p:nvSpPr>
          <p:cNvPr id="29" name="bg object 29"/>
          <p:cNvSpPr/>
          <p:nvPr/>
        </p:nvSpPr>
        <p:spPr>
          <a:xfrm>
            <a:off x="12164592" y="2464337"/>
            <a:ext cx="56515" cy="57150"/>
          </a:xfrm>
          <a:custGeom>
            <a:avLst/>
            <a:gdLst/>
            <a:ahLst/>
            <a:cxnLst/>
            <a:rect l="l" t="t" r="r" b="b"/>
            <a:pathLst>
              <a:path w="56515" h="57150">
                <a:moveTo>
                  <a:pt x="32000" y="56747"/>
                </a:moveTo>
                <a:lnTo>
                  <a:pt x="24507" y="56747"/>
                </a:lnTo>
                <a:lnTo>
                  <a:pt x="20902" y="56027"/>
                </a:lnTo>
                <a:lnTo>
                  <a:pt x="0" y="32136"/>
                </a:lnTo>
                <a:lnTo>
                  <a:pt x="0" y="24611"/>
                </a:lnTo>
                <a:lnTo>
                  <a:pt x="24507" y="0"/>
                </a:lnTo>
                <a:lnTo>
                  <a:pt x="32000" y="0"/>
                </a:lnTo>
                <a:lnTo>
                  <a:pt x="56508" y="28373"/>
                </a:lnTo>
                <a:lnTo>
                  <a:pt x="56507" y="32136"/>
                </a:lnTo>
                <a:lnTo>
                  <a:pt x="32000" y="56747"/>
                </a:lnTo>
                <a:close/>
              </a:path>
            </a:pathLst>
          </a:custGeom>
          <a:solidFill>
            <a:srgbClr val="0C2E3C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0" name="bg object 30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12416393" y="2197143"/>
            <a:ext cx="121390" cy="107025"/>
          </a:xfrm>
          <a:prstGeom prst="rect">
            <a:avLst/>
          </a:prstGeom>
        </p:spPr>
      </p:pic>
      <p:pic>
        <p:nvPicPr>
          <p:cNvPr id="31" name="bg object 31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12366420" y="2258604"/>
            <a:ext cx="47212" cy="68947"/>
          </a:xfrm>
          <a:prstGeom prst="rect">
            <a:avLst/>
          </a:prstGeom>
        </p:spPr>
      </p:pic>
      <p:sp>
        <p:nvSpPr>
          <p:cNvPr id="32" name="bg object 32"/>
          <p:cNvSpPr/>
          <p:nvPr/>
        </p:nvSpPr>
        <p:spPr>
          <a:xfrm>
            <a:off x="12099433" y="2660551"/>
            <a:ext cx="194945" cy="45085"/>
          </a:xfrm>
          <a:custGeom>
            <a:avLst/>
            <a:gdLst/>
            <a:ahLst/>
            <a:cxnLst/>
            <a:rect l="l" t="t" r="r" b="b"/>
            <a:pathLst>
              <a:path w="194945" h="45085">
                <a:moveTo>
                  <a:pt x="194372" y="45010"/>
                </a:moveTo>
                <a:lnTo>
                  <a:pt x="0" y="43346"/>
                </a:lnTo>
                <a:lnTo>
                  <a:pt x="0" y="24029"/>
                </a:lnTo>
                <a:lnTo>
                  <a:pt x="194372" y="0"/>
                </a:lnTo>
                <a:lnTo>
                  <a:pt x="194372" y="45010"/>
                </a:lnTo>
                <a:close/>
              </a:path>
            </a:pathLst>
          </a:custGeom>
          <a:solidFill>
            <a:srgbClr val="0C2E3C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3" name="bg object 33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12327674" y="2154443"/>
            <a:ext cx="176797" cy="119213"/>
          </a:xfrm>
          <a:prstGeom prst="rect">
            <a:avLst/>
          </a:prstGeom>
        </p:spPr>
      </p:pic>
      <p:pic>
        <p:nvPicPr>
          <p:cNvPr id="34" name="bg object 34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11978687" y="2690496"/>
            <a:ext cx="437798" cy="123199"/>
          </a:xfrm>
          <a:prstGeom prst="rect">
            <a:avLst/>
          </a:prstGeom>
        </p:spPr>
      </p:pic>
      <p:sp>
        <p:nvSpPr>
          <p:cNvPr id="35" name="bg object 35"/>
          <p:cNvSpPr/>
          <p:nvPr/>
        </p:nvSpPr>
        <p:spPr>
          <a:xfrm>
            <a:off x="11428333" y="2882828"/>
            <a:ext cx="1786889" cy="490220"/>
          </a:xfrm>
          <a:custGeom>
            <a:avLst/>
            <a:gdLst/>
            <a:ahLst/>
            <a:cxnLst/>
            <a:rect l="l" t="t" r="r" b="b"/>
            <a:pathLst>
              <a:path w="1786890" h="490220">
                <a:moveTo>
                  <a:pt x="0" y="490026"/>
                </a:moveTo>
                <a:lnTo>
                  <a:pt x="1786717" y="490026"/>
                </a:lnTo>
                <a:lnTo>
                  <a:pt x="1786717" y="0"/>
                </a:lnTo>
                <a:lnTo>
                  <a:pt x="0" y="0"/>
                </a:lnTo>
                <a:lnTo>
                  <a:pt x="0" y="490026"/>
                </a:lnTo>
                <a:close/>
              </a:path>
            </a:pathLst>
          </a:custGeom>
          <a:solidFill>
            <a:srgbClr val="8B959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bg object 36"/>
          <p:cNvSpPr/>
          <p:nvPr/>
        </p:nvSpPr>
        <p:spPr>
          <a:xfrm>
            <a:off x="11100605" y="2835970"/>
            <a:ext cx="328295" cy="537210"/>
          </a:xfrm>
          <a:custGeom>
            <a:avLst/>
            <a:gdLst/>
            <a:ahLst/>
            <a:cxnLst/>
            <a:rect l="l" t="t" r="r" b="b"/>
            <a:pathLst>
              <a:path w="328295" h="537210">
                <a:moveTo>
                  <a:pt x="327727" y="536884"/>
                </a:moveTo>
                <a:lnTo>
                  <a:pt x="0" y="536884"/>
                </a:lnTo>
                <a:lnTo>
                  <a:pt x="0" y="0"/>
                </a:lnTo>
                <a:lnTo>
                  <a:pt x="327727" y="0"/>
                </a:lnTo>
                <a:lnTo>
                  <a:pt x="327727" y="536884"/>
                </a:lnTo>
                <a:close/>
              </a:path>
            </a:pathLst>
          </a:custGeom>
          <a:solidFill>
            <a:srgbClr val="BFC6CB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7" name="bg object 37"/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10915712" y="2789943"/>
            <a:ext cx="2459474" cy="93716"/>
          </a:xfrm>
          <a:prstGeom prst="rect">
            <a:avLst/>
          </a:prstGeom>
        </p:spPr>
      </p:pic>
      <p:sp>
        <p:nvSpPr>
          <p:cNvPr id="38" name="bg object 38"/>
          <p:cNvSpPr/>
          <p:nvPr/>
        </p:nvSpPr>
        <p:spPr>
          <a:xfrm>
            <a:off x="11131805" y="2077640"/>
            <a:ext cx="824865" cy="536575"/>
          </a:xfrm>
          <a:custGeom>
            <a:avLst/>
            <a:gdLst/>
            <a:ahLst/>
            <a:cxnLst/>
            <a:rect l="l" t="t" r="r" b="b"/>
            <a:pathLst>
              <a:path w="824865" h="536575">
                <a:moveTo>
                  <a:pt x="787153" y="536515"/>
                </a:moveTo>
                <a:lnTo>
                  <a:pt x="68380" y="536515"/>
                </a:lnTo>
                <a:lnTo>
                  <a:pt x="54481" y="533824"/>
                </a:lnTo>
                <a:lnTo>
                  <a:pt x="42921" y="526429"/>
                </a:lnTo>
                <a:lnTo>
                  <a:pt x="34795" y="515343"/>
                </a:lnTo>
                <a:lnTo>
                  <a:pt x="31198" y="501579"/>
                </a:lnTo>
                <a:lnTo>
                  <a:pt x="0" y="40019"/>
                </a:lnTo>
                <a:lnTo>
                  <a:pt x="2148" y="24642"/>
                </a:lnTo>
                <a:lnTo>
                  <a:pt x="9939" y="11899"/>
                </a:lnTo>
                <a:lnTo>
                  <a:pt x="22079" y="3211"/>
                </a:lnTo>
                <a:lnTo>
                  <a:pt x="37273" y="0"/>
                </a:lnTo>
                <a:lnTo>
                  <a:pt x="756046" y="0"/>
                </a:lnTo>
                <a:lnTo>
                  <a:pt x="789631" y="21172"/>
                </a:lnTo>
                <a:lnTo>
                  <a:pt x="824334" y="496496"/>
                </a:lnTo>
                <a:lnTo>
                  <a:pt x="822187" y="511872"/>
                </a:lnTo>
                <a:lnTo>
                  <a:pt x="814406" y="524615"/>
                </a:lnTo>
                <a:lnTo>
                  <a:pt x="802294" y="533303"/>
                </a:lnTo>
                <a:lnTo>
                  <a:pt x="787153" y="536515"/>
                </a:lnTo>
                <a:close/>
              </a:path>
            </a:pathLst>
          </a:custGeom>
          <a:solidFill>
            <a:srgbClr val="0C2E3C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9" name="bg object 39"/>
          <p:cNvPicPr/>
          <p:nvPr/>
        </p:nvPicPr>
        <p:blipFill>
          <a:blip r:embed="rId18" cstate="print"/>
          <a:stretch>
            <a:fillRect/>
          </a:stretch>
        </p:blipFill>
        <p:spPr>
          <a:xfrm>
            <a:off x="11463029" y="2581345"/>
            <a:ext cx="211490" cy="209800"/>
          </a:xfrm>
          <a:prstGeom prst="rect">
            <a:avLst/>
          </a:prstGeom>
        </p:spPr>
      </p:pic>
      <p:pic>
        <p:nvPicPr>
          <p:cNvPr id="40" name="bg object 40"/>
          <p:cNvPicPr/>
          <p:nvPr/>
        </p:nvPicPr>
        <p:blipFill>
          <a:blip r:embed="rId19" cstate="print"/>
          <a:stretch>
            <a:fillRect/>
          </a:stretch>
        </p:blipFill>
        <p:spPr>
          <a:xfrm>
            <a:off x="11178281" y="2077640"/>
            <a:ext cx="824518" cy="536515"/>
          </a:xfrm>
          <a:prstGeom prst="rect">
            <a:avLst/>
          </a:prstGeom>
        </p:spPr>
      </p:pic>
      <p:sp>
        <p:nvSpPr>
          <p:cNvPr id="41" name="bg object 41"/>
          <p:cNvSpPr/>
          <p:nvPr/>
        </p:nvSpPr>
        <p:spPr>
          <a:xfrm>
            <a:off x="11219419" y="2116550"/>
            <a:ext cx="742315" cy="403860"/>
          </a:xfrm>
          <a:custGeom>
            <a:avLst/>
            <a:gdLst/>
            <a:ahLst/>
            <a:cxnLst/>
            <a:rect l="l" t="t" r="r" b="b"/>
            <a:pathLst>
              <a:path w="742315" h="403860">
                <a:moveTo>
                  <a:pt x="741965" y="403795"/>
                </a:moveTo>
                <a:lnTo>
                  <a:pt x="24848" y="403795"/>
                </a:lnTo>
                <a:lnTo>
                  <a:pt x="0" y="34381"/>
                </a:lnTo>
                <a:lnTo>
                  <a:pt x="1962" y="21172"/>
                </a:lnTo>
                <a:lnTo>
                  <a:pt x="9007" y="10224"/>
                </a:lnTo>
                <a:lnTo>
                  <a:pt x="19969" y="2759"/>
                </a:lnTo>
                <a:lnTo>
                  <a:pt x="33683" y="0"/>
                </a:lnTo>
                <a:lnTo>
                  <a:pt x="683248" y="0"/>
                </a:lnTo>
                <a:lnTo>
                  <a:pt x="716840" y="30037"/>
                </a:lnTo>
                <a:lnTo>
                  <a:pt x="741965" y="403795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bg object 42"/>
          <p:cNvSpPr/>
          <p:nvPr/>
        </p:nvSpPr>
        <p:spPr>
          <a:xfrm>
            <a:off x="11300868" y="2760091"/>
            <a:ext cx="132715" cy="31115"/>
          </a:xfrm>
          <a:custGeom>
            <a:avLst/>
            <a:gdLst/>
            <a:ahLst/>
            <a:cxnLst/>
            <a:rect l="l" t="t" r="r" b="b"/>
            <a:pathLst>
              <a:path w="132715" h="31114">
                <a:moveTo>
                  <a:pt x="132526" y="31054"/>
                </a:moveTo>
                <a:lnTo>
                  <a:pt x="0" y="31054"/>
                </a:lnTo>
                <a:lnTo>
                  <a:pt x="0" y="0"/>
                </a:lnTo>
                <a:lnTo>
                  <a:pt x="132526" y="0"/>
                </a:lnTo>
                <a:lnTo>
                  <a:pt x="132526" y="31054"/>
                </a:lnTo>
                <a:close/>
              </a:path>
            </a:pathLst>
          </a:custGeom>
          <a:solidFill>
            <a:srgbClr val="0C2E3C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3" name="bg object 43"/>
          <p:cNvPicPr/>
          <p:nvPr/>
        </p:nvPicPr>
        <p:blipFill>
          <a:blip r:embed="rId20" cstate="print"/>
          <a:stretch>
            <a:fillRect/>
          </a:stretch>
        </p:blipFill>
        <p:spPr>
          <a:xfrm>
            <a:off x="11424376" y="2760091"/>
            <a:ext cx="377793" cy="31054"/>
          </a:xfrm>
          <a:prstGeom prst="rect">
            <a:avLst/>
          </a:prstGeom>
        </p:spPr>
      </p:pic>
      <p:pic>
        <p:nvPicPr>
          <p:cNvPr id="44" name="bg object 44"/>
          <p:cNvPicPr/>
          <p:nvPr/>
        </p:nvPicPr>
        <p:blipFill>
          <a:blip r:embed="rId21" cstate="print"/>
          <a:stretch>
            <a:fillRect/>
          </a:stretch>
        </p:blipFill>
        <p:spPr>
          <a:xfrm>
            <a:off x="11299120" y="2173945"/>
            <a:ext cx="279594" cy="303978"/>
          </a:xfrm>
          <a:prstGeom prst="rect">
            <a:avLst/>
          </a:prstGeom>
        </p:spPr>
      </p:pic>
      <p:pic>
        <p:nvPicPr>
          <p:cNvPr id="45" name="bg object 45"/>
          <p:cNvPicPr/>
          <p:nvPr/>
        </p:nvPicPr>
        <p:blipFill>
          <a:blip r:embed="rId22" cstate="print"/>
          <a:stretch>
            <a:fillRect/>
          </a:stretch>
        </p:blipFill>
        <p:spPr>
          <a:xfrm>
            <a:off x="11718143" y="2232079"/>
            <a:ext cx="168143" cy="8225"/>
          </a:xfrm>
          <a:prstGeom prst="rect">
            <a:avLst/>
          </a:prstGeom>
        </p:spPr>
      </p:pic>
      <p:pic>
        <p:nvPicPr>
          <p:cNvPr id="46" name="bg object 46"/>
          <p:cNvPicPr/>
          <p:nvPr/>
        </p:nvPicPr>
        <p:blipFill>
          <a:blip r:embed="rId23" cstate="print"/>
          <a:stretch>
            <a:fillRect/>
          </a:stretch>
        </p:blipFill>
        <p:spPr>
          <a:xfrm>
            <a:off x="11625835" y="2281525"/>
            <a:ext cx="264501" cy="8225"/>
          </a:xfrm>
          <a:prstGeom prst="rect">
            <a:avLst/>
          </a:prstGeom>
        </p:spPr>
      </p:pic>
      <p:pic>
        <p:nvPicPr>
          <p:cNvPr id="47" name="bg object 47"/>
          <p:cNvPicPr/>
          <p:nvPr/>
        </p:nvPicPr>
        <p:blipFill>
          <a:blip r:embed="rId24" cstate="print"/>
          <a:stretch>
            <a:fillRect/>
          </a:stretch>
        </p:blipFill>
        <p:spPr>
          <a:xfrm>
            <a:off x="11636050" y="2331988"/>
            <a:ext cx="258335" cy="8225"/>
          </a:xfrm>
          <a:prstGeom prst="rect">
            <a:avLst/>
          </a:prstGeom>
        </p:spPr>
      </p:pic>
      <p:pic>
        <p:nvPicPr>
          <p:cNvPr id="48" name="bg object 48"/>
          <p:cNvPicPr/>
          <p:nvPr/>
        </p:nvPicPr>
        <p:blipFill>
          <a:blip r:embed="rId25" cstate="print"/>
          <a:stretch>
            <a:fillRect/>
          </a:stretch>
        </p:blipFill>
        <p:spPr>
          <a:xfrm>
            <a:off x="11646358" y="2383467"/>
            <a:ext cx="250144" cy="8225"/>
          </a:xfrm>
          <a:prstGeom prst="rect">
            <a:avLst/>
          </a:prstGeom>
        </p:spPr>
      </p:pic>
      <p:pic>
        <p:nvPicPr>
          <p:cNvPr id="49" name="bg object 49"/>
          <p:cNvPicPr/>
          <p:nvPr/>
        </p:nvPicPr>
        <p:blipFill>
          <a:blip r:embed="rId26" cstate="print"/>
          <a:stretch>
            <a:fillRect/>
          </a:stretch>
        </p:blipFill>
        <p:spPr>
          <a:xfrm>
            <a:off x="12661935" y="2487258"/>
            <a:ext cx="62029" cy="296307"/>
          </a:xfrm>
          <a:prstGeom prst="rect">
            <a:avLst/>
          </a:prstGeom>
        </p:spPr>
      </p:pic>
      <p:pic>
        <p:nvPicPr>
          <p:cNvPr id="50" name="bg object 50"/>
          <p:cNvPicPr/>
          <p:nvPr/>
        </p:nvPicPr>
        <p:blipFill>
          <a:blip r:embed="rId27" cstate="print"/>
          <a:stretch>
            <a:fillRect/>
          </a:stretch>
        </p:blipFill>
        <p:spPr>
          <a:xfrm>
            <a:off x="12766484" y="2487258"/>
            <a:ext cx="62029" cy="296307"/>
          </a:xfrm>
          <a:prstGeom prst="rect">
            <a:avLst/>
          </a:prstGeom>
        </p:spPr>
      </p:pic>
      <p:pic>
        <p:nvPicPr>
          <p:cNvPr id="51" name="bg object 51"/>
          <p:cNvPicPr/>
          <p:nvPr/>
        </p:nvPicPr>
        <p:blipFill>
          <a:blip r:embed="rId28" cstate="print"/>
          <a:stretch>
            <a:fillRect/>
          </a:stretch>
        </p:blipFill>
        <p:spPr>
          <a:xfrm>
            <a:off x="12863579" y="2487258"/>
            <a:ext cx="62029" cy="296307"/>
          </a:xfrm>
          <a:prstGeom prst="rect">
            <a:avLst/>
          </a:prstGeom>
        </p:spPr>
      </p:pic>
      <p:pic>
        <p:nvPicPr>
          <p:cNvPr id="52" name="bg object 52"/>
          <p:cNvPicPr/>
          <p:nvPr/>
        </p:nvPicPr>
        <p:blipFill>
          <a:blip r:embed="rId29" cstate="print"/>
          <a:stretch>
            <a:fillRect/>
          </a:stretch>
        </p:blipFill>
        <p:spPr>
          <a:xfrm>
            <a:off x="12617576" y="2588496"/>
            <a:ext cx="343649" cy="84809"/>
          </a:xfrm>
          <a:prstGeom prst="rect">
            <a:avLst/>
          </a:prstGeom>
        </p:spPr>
      </p:pic>
      <p:pic>
        <p:nvPicPr>
          <p:cNvPr id="53" name="bg object 53"/>
          <p:cNvPicPr/>
          <p:nvPr/>
        </p:nvPicPr>
        <p:blipFill>
          <a:blip r:embed="rId30" cstate="print"/>
          <a:stretch>
            <a:fillRect/>
          </a:stretch>
        </p:blipFill>
        <p:spPr>
          <a:xfrm>
            <a:off x="12617576" y="2613950"/>
            <a:ext cx="15921" cy="176903"/>
          </a:xfrm>
          <a:prstGeom prst="rect">
            <a:avLst/>
          </a:prstGeom>
        </p:spPr>
      </p:pic>
      <p:pic>
        <p:nvPicPr>
          <p:cNvPr id="54" name="bg object 54"/>
          <p:cNvPicPr/>
          <p:nvPr/>
        </p:nvPicPr>
        <p:blipFill>
          <a:blip r:embed="rId31" cstate="print"/>
          <a:stretch>
            <a:fillRect/>
          </a:stretch>
        </p:blipFill>
        <p:spPr>
          <a:xfrm>
            <a:off x="12945211" y="2557315"/>
            <a:ext cx="272139" cy="233538"/>
          </a:xfrm>
          <a:prstGeom prst="rect">
            <a:avLst/>
          </a:prstGeom>
        </p:spPr>
      </p:pic>
      <p:pic>
        <p:nvPicPr>
          <p:cNvPr id="55" name="bg object 55"/>
          <p:cNvPicPr/>
          <p:nvPr/>
        </p:nvPicPr>
        <p:blipFill>
          <a:blip r:embed="rId32" cstate="print"/>
          <a:stretch>
            <a:fillRect/>
          </a:stretch>
        </p:blipFill>
        <p:spPr>
          <a:xfrm>
            <a:off x="10945758" y="441677"/>
            <a:ext cx="2032727" cy="1805734"/>
          </a:xfrm>
          <a:prstGeom prst="rect">
            <a:avLst/>
          </a:prstGeom>
        </p:spPr>
      </p:pic>
      <p:sp>
        <p:nvSpPr>
          <p:cNvPr id="56" name="bg object 56"/>
          <p:cNvSpPr/>
          <p:nvPr/>
        </p:nvSpPr>
        <p:spPr>
          <a:xfrm>
            <a:off x="1235610" y="100502"/>
            <a:ext cx="9418955" cy="2002155"/>
          </a:xfrm>
          <a:custGeom>
            <a:avLst/>
            <a:gdLst/>
            <a:ahLst/>
            <a:cxnLst/>
            <a:rect l="l" t="t" r="r" b="b"/>
            <a:pathLst>
              <a:path w="9418955" h="2002155">
                <a:moveTo>
                  <a:pt x="9418453" y="2001897"/>
                </a:moveTo>
                <a:lnTo>
                  <a:pt x="0" y="2001897"/>
                </a:lnTo>
                <a:lnTo>
                  <a:pt x="0" y="0"/>
                </a:lnTo>
                <a:lnTo>
                  <a:pt x="9418453" y="0"/>
                </a:lnTo>
                <a:lnTo>
                  <a:pt x="9418453" y="2001897"/>
                </a:lnTo>
                <a:close/>
              </a:path>
            </a:pathLst>
          </a:custGeom>
          <a:solidFill>
            <a:srgbClr val="457C9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788141" y="206871"/>
            <a:ext cx="8312784" cy="166941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710882" y="4623943"/>
            <a:ext cx="12795885" cy="1326870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834001" y="18696814"/>
            <a:ext cx="4549648" cy="100520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710882" y="18696814"/>
            <a:ext cx="3270059" cy="100520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12/26/2025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0236708" y="18696814"/>
            <a:ext cx="3270059" cy="100520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jpg"/><Relationship Id="rId13" Type="http://schemas.openxmlformats.org/officeDocument/2006/relationships/image" Target="../media/image38.png"/><Relationship Id="rId18" Type="http://schemas.openxmlformats.org/officeDocument/2006/relationships/image" Target="../media/image43.png"/><Relationship Id="rId26" Type="http://schemas.openxmlformats.org/officeDocument/2006/relationships/image" Target="../media/image51.png"/><Relationship Id="rId3" Type="http://schemas.openxmlformats.org/officeDocument/2006/relationships/image" Target="../media/image28.png"/><Relationship Id="rId21" Type="http://schemas.openxmlformats.org/officeDocument/2006/relationships/image" Target="../media/image46.png"/><Relationship Id="rId7" Type="http://schemas.openxmlformats.org/officeDocument/2006/relationships/image" Target="../media/image32.png"/><Relationship Id="rId12" Type="http://schemas.openxmlformats.org/officeDocument/2006/relationships/image" Target="../media/image37.png"/><Relationship Id="rId17" Type="http://schemas.openxmlformats.org/officeDocument/2006/relationships/image" Target="../media/image42.png"/><Relationship Id="rId25" Type="http://schemas.openxmlformats.org/officeDocument/2006/relationships/image" Target="../media/image50.png"/><Relationship Id="rId2" Type="http://schemas.openxmlformats.org/officeDocument/2006/relationships/image" Target="../media/image27.png"/><Relationship Id="rId16" Type="http://schemas.openxmlformats.org/officeDocument/2006/relationships/image" Target="../media/image41.jpg"/><Relationship Id="rId20" Type="http://schemas.openxmlformats.org/officeDocument/2006/relationships/image" Target="../media/image45.png"/><Relationship Id="rId29" Type="http://schemas.openxmlformats.org/officeDocument/2006/relationships/image" Target="../media/image5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1.png"/><Relationship Id="rId11" Type="http://schemas.openxmlformats.org/officeDocument/2006/relationships/image" Target="../media/image36.jpg"/><Relationship Id="rId24" Type="http://schemas.openxmlformats.org/officeDocument/2006/relationships/image" Target="../media/image49.png"/><Relationship Id="rId5" Type="http://schemas.openxmlformats.org/officeDocument/2006/relationships/image" Target="../media/image30.png"/><Relationship Id="rId15" Type="http://schemas.openxmlformats.org/officeDocument/2006/relationships/image" Target="../media/image40.jpg"/><Relationship Id="rId23" Type="http://schemas.openxmlformats.org/officeDocument/2006/relationships/image" Target="../media/image48.png"/><Relationship Id="rId28" Type="http://schemas.openxmlformats.org/officeDocument/2006/relationships/image" Target="../media/image53.png"/><Relationship Id="rId10" Type="http://schemas.openxmlformats.org/officeDocument/2006/relationships/image" Target="../media/image35.jpg"/><Relationship Id="rId19" Type="http://schemas.openxmlformats.org/officeDocument/2006/relationships/image" Target="../media/image44.png"/><Relationship Id="rId4" Type="http://schemas.openxmlformats.org/officeDocument/2006/relationships/image" Target="../media/image29.png"/><Relationship Id="rId9" Type="http://schemas.openxmlformats.org/officeDocument/2006/relationships/image" Target="../media/image34.jpg"/><Relationship Id="rId14" Type="http://schemas.openxmlformats.org/officeDocument/2006/relationships/image" Target="../media/image39.png"/><Relationship Id="rId22" Type="http://schemas.openxmlformats.org/officeDocument/2006/relationships/image" Target="../media/image47.png"/><Relationship Id="rId27" Type="http://schemas.openxmlformats.org/officeDocument/2006/relationships/image" Target="../media/image52.png"/><Relationship Id="rId30" Type="http://schemas.openxmlformats.org/officeDocument/2006/relationships/image" Target="../media/image5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algn="ctr">
              <a:lnSpc>
                <a:spcPts val="4545"/>
              </a:lnSpc>
              <a:spcBef>
                <a:spcPts val="140"/>
              </a:spcBef>
            </a:pPr>
            <a:r>
              <a:rPr lang="en-US" spc="125" dirty="0"/>
              <a:t>Computational</a:t>
            </a:r>
            <a:r>
              <a:rPr lang="en-US" spc="-10" dirty="0"/>
              <a:t> </a:t>
            </a:r>
            <a:r>
              <a:rPr lang="en-US" spc="220" dirty="0"/>
              <a:t>Analysis</a:t>
            </a:r>
            <a:r>
              <a:rPr lang="en-US" spc="-5" dirty="0"/>
              <a:t> </a:t>
            </a:r>
            <a:r>
              <a:rPr lang="en-US" spc="315" dirty="0"/>
              <a:t>of</a:t>
            </a:r>
          </a:p>
          <a:p>
            <a:pPr marL="12065" marR="5080" algn="ctr">
              <a:lnSpc>
                <a:spcPct val="72100"/>
              </a:lnSpc>
              <a:spcBef>
                <a:spcPts val="735"/>
              </a:spcBef>
            </a:pPr>
            <a:r>
              <a:rPr lang="en-US" spc="-145" dirty="0"/>
              <a:t>Unknown</a:t>
            </a:r>
            <a:r>
              <a:rPr lang="en-US" spc="-200" dirty="0"/>
              <a:t> </a:t>
            </a:r>
            <a:r>
              <a:rPr lang="en-US" spc="-409" dirty="0"/>
              <a:t>DNA</a:t>
            </a:r>
            <a:r>
              <a:rPr lang="en-US" spc="-45" dirty="0"/>
              <a:t> </a:t>
            </a:r>
            <a:r>
              <a:rPr lang="en-US" dirty="0"/>
              <a:t>Sequences</a:t>
            </a:r>
            <a:r>
              <a:rPr lang="en-US" spc="-140" dirty="0"/>
              <a:t> </a:t>
            </a:r>
            <a:r>
              <a:rPr lang="en-US" spc="-10" dirty="0"/>
              <a:t>Using </a:t>
            </a:r>
            <a:r>
              <a:rPr lang="en-US" spc="170" dirty="0"/>
              <a:t>Integrated</a:t>
            </a:r>
            <a:r>
              <a:rPr lang="en-US" spc="-20" dirty="0"/>
              <a:t> </a:t>
            </a:r>
            <a:r>
              <a:rPr lang="en-US" spc="130" dirty="0"/>
              <a:t>Bioinformatics</a:t>
            </a:r>
            <a:r>
              <a:rPr lang="en-US" spc="-15" dirty="0"/>
              <a:t> </a:t>
            </a:r>
            <a:r>
              <a:rPr lang="en-US" spc="130" dirty="0"/>
              <a:t>Tools</a:t>
            </a:r>
          </a:p>
        </p:txBody>
      </p:sp>
      <p:sp>
        <p:nvSpPr>
          <p:cNvPr id="3" name="object 3"/>
          <p:cNvSpPr/>
          <p:nvPr/>
        </p:nvSpPr>
        <p:spPr>
          <a:xfrm>
            <a:off x="1536224" y="2063456"/>
            <a:ext cx="10591165" cy="1249045"/>
          </a:xfrm>
          <a:custGeom>
            <a:avLst/>
            <a:gdLst/>
            <a:ahLst/>
            <a:cxnLst/>
            <a:rect l="l" t="t" r="r" b="b"/>
            <a:pathLst>
              <a:path w="10591165" h="1249045">
                <a:moveTo>
                  <a:pt x="10590995" y="1248803"/>
                </a:moveTo>
                <a:lnTo>
                  <a:pt x="0" y="1248803"/>
                </a:lnTo>
                <a:lnTo>
                  <a:pt x="0" y="0"/>
                </a:lnTo>
                <a:lnTo>
                  <a:pt x="10590995" y="0"/>
                </a:lnTo>
                <a:lnTo>
                  <a:pt x="10590995" y="1248803"/>
                </a:lnTo>
                <a:close/>
              </a:path>
            </a:pathLst>
          </a:custGeom>
          <a:gradFill>
            <a:gsLst>
              <a:gs pos="67266">
                <a:srgbClr val="B6CBE3"/>
              </a:gs>
              <a:gs pos="0">
                <a:schemeClr val="accent1">
                  <a:lumMod val="5000"/>
                  <a:lumOff val="95000"/>
                </a:schemeClr>
              </a:gs>
              <a:gs pos="23000">
                <a:srgbClr val="DCE6F2"/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" name="object 4"/>
          <p:cNvSpPr txBox="1"/>
          <p:nvPr/>
        </p:nvSpPr>
        <p:spPr>
          <a:xfrm>
            <a:off x="891540" y="2530636"/>
            <a:ext cx="2480310" cy="942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2999"/>
              </a:lnSpc>
              <a:spcBef>
                <a:spcPts val="100"/>
              </a:spcBef>
            </a:pPr>
            <a:r>
              <a:rPr sz="1300" b="1" spc="-30" dirty="0">
                <a:latin typeface="Tahoma"/>
                <a:cs typeface="Tahoma"/>
              </a:rPr>
              <a:t>ORGANISM:</a:t>
            </a:r>
            <a:r>
              <a:rPr lang="en-US" sz="1300" b="1" spc="-35" dirty="0">
                <a:latin typeface="Tahoma"/>
                <a:cs typeface="Tahoma"/>
              </a:rPr>
              <a:t> HOMO SAPIEN</a:t>
            </a:r>
            <a:r>
              <a:rPr sz="1300" b="1" spc="-10" dirty="0">
                <a:latin typeface="Tahoma"/>
                <a:cs typeface="Tahoma"/>
              </a:rPr>
              <a:t> </a:t>
            </a:r>
            <a:endParaRPr lang="en-US" sz="1300" b="1" spc="-30" dirty="0">
              <a:latin typeface="Tahoma"/>
              <a:cs typeface="Tahoma"/>
            </a:endParaRPr>
          </a:p>
          <a:p>
            <a:pPr marL="12700" marR="5080">
              <a:lnSpc>
                <a:spcPct val="112999"/>
              </a:lnSpc>
              <a:spcBef>
                <a:spcPts val="100"/>
              </a:spcBef>
            </a:pPr>
            <a:r>
              <a:rPr lang="en-US" sz="1300" b="1" spc="-30" dirty="0">
                <a:latin typeface="Tahoma"/>
                <a:cs typeface="Tahoma"/>
              </a:rPr>
              <a:t>MW: </a:t>
            </a:r>
            <a:r>
              <a:rPr lang="en-US" sz="1300" b="1" spc="-30" dirty="0" smtClean="0">
                <a:latin typeface="Tahoma"/>
                <a:cs typeface="Tahoma"/>
              </a:rPr>
              <a:t>213114.07                                      NAME   AMBER AROOJ .   </a:t>
            </a:r>
            <a:endParaRPr lang="en-US" sz="1300" b="1" spc="-30" dirty="0">
              <a:latin typeface="Tahoma"/>
              <a:cs typeface="Tahoma"/>
            </a:endParaRPr>
          </a:p>
          <a:p>
            <a:pPr marL="12700" marR="5080">
              <a:lnSpc>
                <a:spcPct val="112999"/>
              </a:lnSpc>
              <a:spcBef>
                <a:spcPts val="100"/>
              </a:spcBef>
            </a:pPr>
            <a:r>
              <a:rPr lang="en-US" sz="1300" b="1" spc="-30" dirty="0" smtClean="0">
                <a:latin typeface="Tahoma"/>
                <a:cs typeface="Tahoma"/>
              </a:rPr>
              <a:t>REJ NO. </a:t>
            </a:r>
            <a:r>
              <a:rPr lang="en-US" sz="1300" b="1" spc="-30" smtClean="0">
                <a:latin typeface="Tahoma"/>
                <a:cs typeface="Tahoma"/>
              </a:rPr>
              <a:t>04032214002.</a:t>
            </a:r>
            <a:endParaRPr lang="en-US" sz="1300" b="1" spc="-30" dirty="0">
              <a:latin typeface="Tahoma"/>
              <a:cs typeface="Tahom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417306" y="2183452"/>
            <a:ext cx="2115820" cy="212238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 b="1" spc="-70" dirty="0">
                <a:latin typeface="Tahoma"/>
                <a:cs typeface="Tahoma"/>
              </a:rPr>
              <a:t>PROTEIN:</a:t>
            </a:r>
            <a:r>
              <a:rPr sz="1300" b="1" spc="20" dirty="0">
                <a:latin typeface="Tahoma"/>
                <a:cs typeface="Tahoma"/>
              </a:rPr>
              <a:t> </a:t>
            </a:r>
            <a:r>
              <a:rPr lang="en-US" sz="1300" b="1" spc="20" dirty="0">
                <a:latin typeface="Tahoma"/>
                <a:cs typeface="Tahoma"/>
              </a:rPr>
              <a:t>Cystic Fibrosis</a:t>
            </a:r>
            <a:endParaRPr sz="1300" dirty="0">
              <a:latin typeface="Tahoma"/>
              <a:cs typeface="Tahom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8879329" y="2129576"/>
            <a:ext cx="2112010" cy="442365"/>
          </a:xfrm>
          <a:prstGeom prst="rect">
            <a:avLst/>
          </a:prstGeom>
        </p:spPr>
        <p:txBody>
          <a:bodyPr vert="horz" wrap="square" lIns="0" tIns="381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00"/>
              </a:spcBef>
            </a:pPr>
            <a:endParaRPr sz="1300" dirty="0">
              <a:latin typeface="Tahoma"/>
              <a:cs typeface="Tahoma"/>
            </a:endParaRPr>
          </a:p>
          <a:p>
            <a:pPr marL="12700" marR="5080">
              <a:lnSpc>
                <a:spcPct val="112999"/>
              </a:lnSpc>
            </a:pPr>
            <a:r>
              <a:rPr sz="1300" b="1" spc="-25" dirty="0">
                <a:latin typeface="Tahoma"/>
                <a:cs typeface="Tahoma"/>
              </a:rPr>
              <a:t>Amino</a:t>
            </a:r>
            <a:r>
              <a:rPr sz="1300" b="1" spc="-60" dirty="0">
                <a:latin typeface="Tahoma"/>
                <a:cs typeface="Tahoma"/>
              </a:rPr>
              <a:t> </a:t>
            </a:r>
            <a:r>
              <a:rPr sz="1300" b="1" dirty="0">
                <a:latin typeface="Tahoma"/>
                <a:cs typeface="Tahoma"/>
              </a:rPr>
              <a:t>Acids:</a:t>
            </a:r>
            <a:r>
              <a:rPr sz="1300" b="1" spc="-55" dirty="0">
                <a:latin typeface="Tahoma"/>
                <a:cs typeface="Tahoma"/>
              </a:rPr>
              <a:t> </a:t>
            </a:r>
            <a:r>
              <a:rPr lang="en-US" sz="1300" b="1" spc="-25" dirty="0">
                <a:latin typeface="Tahoma"/>
                <a:cs typeface="Tahoma"/>
              </a:rPr>
              <a:t>2587</a:t>
            </a:r>
            <a:r>
              <a:rPr sz="1300" b="1" spc="-25" dirty="0">
                <a:latin typeface="Tahoma"/>
                <a:cs typeface="Tahoma"/>
              </a:rPr>
              <a:t> </a:t>
            </a:r>
            <a:endParaRPr sz="1300" dirty="0">
              <a:latin typeface="Tahoma"/>
              <a:cs typeface="Tahom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879329" y="2827501"/>
            <a:ext cx="1457325" cy="212238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 b="1" spc="-30" dirty="0">
                <a:latin typeface="Tahoma"/>
                <a:cs typeface="Tahoma"/>
              </a:rPr>
              <a:t>No. </a:t>
            </a:r>
            <a:r>
              <a:rPr sz="1300" b="1" dirty="0">
                <a:latin typeface="Tahoma"/>
                <a:cs typeface="Tahoma"/>
              </a:rPr>
              <a:t>of</a:t>
            </a:r>
            <a:r>
              <a:rPr sz="1300" b="1" spc="-30" dirty="0">
                <a:latin typeface="Tahoma"/>
                <a:cs typeface="Tahoma"/>
              </a:rPr>
              <a:t> </a:t>
            </a:r>
            <a:r>
              <a:rPr sz="1300" b="1" spc="-10" dirty="0">
                <a:latin typeface="Tahoma"/>
                <a:cs typeface="Tahoma"/>
              </a:rPr>
              <a:t>Matches:</a:t>
            </a:r>
            <a:r>
              <a:rPr sz="1300" b="1" spc="-25" dirty="0">
                <a:latin typeface="Tahoma"/>
                <a:cs typeface="Tahoma"/>
              </a:rPr>
              <a:t> </a:t>
            </a:r>
            <a:r>
              <a:rPr lang="en-US" sz="1300" b="1" spc="-50" dirty="0">
                <a:latin typeface="Tahoma"/>
                <a:cs typeface="Tahoma"/>
              </a:rPr>
              <a:t>1</a:t>
            </a:r>
            <a:endParaRPr sz="1300" dirty="0">
              <a:latin typeface="Tahoma"/>
              <a:cs typeface="Tahom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94140" y="2105249"/>
            <a:ext cx="6692265" cy="212238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75" b="1" spc="644" baseline="6172" dirty="0">
                <a:latin typeface="Tahoma"/>
                <a:cs typeface="Tahoma"/>
              </a:rPr>
              <a:t>      </a:t>
            </a:r>
            <a:r>
              <a:rPr sz="1300" b="1" spc="-20" dirty="0">
                <a:latin typeface="Tahoma"/>
                <a:cs typeface="Tahoma"/>
              </a:rPr>
              <a:t>GENE:</a:t>
            </a:r>
            <a:r>
              <a:rPr sz="1300" b="1" spc="380" dirty="0">
                <a:latin typeface="Tahoma"/>
                <a:cs typeface="Tahoma"/>
              </a:rPr>
              <a:t>   </a:t>
            </a:r>
            <a:r>
              <a:rPr lang="en-US" sz="1300" b="1" spc="-10" dirty="0">
                <a:latin typeface="Tahoma"/>
                <a:cs typeface="Tahoma"/>
              </a:rPr>
              <a:t>CFTR</a:t>
            </a:r>
            <a:endParaRPr sz="1300" dirty="0">
              <a:latin typeface="Tahoma"/>
              <a:cs typeface="Tahom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94140" y="2277774"/>
            <a:ext cx="5494020" cy="8534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17600"/>
              </a:lnSpc>
              <a:spcBef>
                <a:spcPts val="95"/>
              </a:spcBef>
            </a:pPr>
            <a:r>
              <a:rPr sz="450" b="1" spc="500" dirty="0">
                <a:latin typeface="Tahoma"/>
                <a:cs typeface="Tahoma"/>
              </a:rPr>
              <a:t>          </a:t>
            </a:r>
            <a:r>
              <a:rPr lang="en-US" sz="450" b="1" spc="-10" dirty="0">
                <a:latin typeface="Tahoma"/>
                <a:cs typeface="Tahoma"/>
              </a:rPr>
              <a:t> </a:t>
            </a:r>
            <a:endParaRPr sz="450" dirty="0">
              <a:latin typeface="Tahoma"/>
              <a:cs typeface="Tahom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94140" y="2850619"/>
            <a:ext cx="5469255" cy="8528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lang="en-US" sz="450" b="1" spc="-10" dirty="0">
                <a:latin typeface="Tahoma"/>
                <a:cs typeface="Tahoma"/>
              </a:rPr>
              <a:t> </a:t>
            </a:r>
            <a:endParaRPr sz="450" dirty="0">
              <a:latin typeface="Tahoma"/>
              <a:cs typeface="Tahom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94140" y="2923233"/>
            <a:ext cx="5500370" cy="8534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algn="just">
              <a:lnSpc>
                <a:spcPct val="117600"/>
              </a:lnSpc>
              <a:spcBef>
                <a:spcPts val="95"/>
              </a:spcBef>
            </a:pPr>
            <a:r>
              <a:rPr lang="en-US" sz="450" b="1" spc="-10" dirty="0">
                <a:latin typeface="Tahoma"/>
                <a:cs typeface="Tahoma"/>
              </a:rPr>
              <a:t> </a:t>
            </a:r>
            <a:endParaRPr sz="450" dirty="0">
              <a:latin typeface="Tahoma"/>
              <a:cs typeface="Tahoma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-760" y="3772722"/>
            <a:ext cx="13926819" cy="8957310"/>
            <a:chOff x="-760" y="3772722"/>
            <a:chExt cx="13926819" cy="8957310"/>
          </a:xfrm>
        </p:grpSpPr>
        <p:pic>
          <p:nvPicPr>
            <p:cNvPr id="14" name="object 1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4" y="12006456"/>
              <a:ext cx="502639" cy="723265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29164" y="10573451"/>
              <a:ext cx="773025" cy="589232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0" y="10718129"/>
              <a:ext cx="931408" cy="1262439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30036" y="3772722"/>
              <a:ext cx="453711" cy="492270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-760" y="3945136"/>
              <a:ext cx="234452" cy="361976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64727" y="3874024"/>
              <a:ext cx="506480" cy="630011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505995" y="4367906"/>
              <a:ext cx="13420090" cy="2841625"/>
            </a:xfrm>
            <a:custGeom>
              <a:avLst/>
              <a:gdLst/>
              <a:ahLst/>
              <a:cxnLst/>
              <a:rect l="l" t="t" r="r" b="b"/>
              <a:pathLst>
                <a:path w="13420090" h="2841625">
                  <a:moveTo>
                    <a:pt x="13419665" y="2841230"/>
                  </a:moveTo>
                  <a:lnTo>
                    <a:pt x="0" y="2841230"/>
                  </a:lnTo>
                  <a:lnTo>
                    <a:pt x="0" y="0"/>
                  </a:lnTo>
                  <a:lnTo>
                    <a:pt x="13419665" y="0"/>
                  </a:lnTo>
                  <a:lnTo>
                    <a:pt x="13419665" y="2841230"/>
                  </a:lnTo>
                  <a:close/>
                </a:path>
              </a:pathLst>
            </a:custGeom>
            <a:solidFill>
              <a:srgbClr val="B5CC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505995" y="4134095"/>
              <a:ext cx="4513580" cy="486409"/>
            </a:xfrm>
            <a:custGeom>
              <a:avLst/>
              <a:gdLst/>
              <a:ahLst/>
              <a:cxnLst/>
              <a:rect l="l" t="t" r="r" b="b"/>
              <a:pathLst>
                <a:path w="4513580" h="486410">
                  <a:moveTo>
                    <a:pt x="4513026" y="485891"/>
                  </a:moveTo>
                  <a:lnTo>
                    <a:pt x="0" y="485891"/>
                  </a:lnTo>
                  <a:lnTo>
                    <a:pt x="0" y="0"/>
                  </a:lnTo>
                  <a:lnTo>
                    <a:pt x="4513026" y="0"/>
                  </a:lnTo>
                  <a:lnTo>
                    <a:pt x="4513026" y="485891"/>
                  </a:lnTo>
                  <a:close/>
                </a:path>
              </a:pathLst>
            </a:custGeom>
            <a:solidFill>
              <a:srgbClr val="457C9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653844" y="4189659"/>
            <a:ext cx="4145279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spc="-210" dirty="0">
                <a:solidFill>
                  <a:srgbClr val="FFFFFF"/>
                </a:solidFill>
                <a:latin typeface="Tahoma"/>
                <a:cs typeface="Tahoma"/>
              </a:rPr>
              <a:t>DNA</a:t>
            </a:r>
            <a:r>
              <a:rPr sz="2000" spc="1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000" spc="-195" dirty="0">
                <a:solidFill>
                  <a:srgbClr val="FFFFFF"/>
                </a:solidFill>
                <a:latin typeface="Tahoma"/>
                <a:cs typeface="Tahoma"/>
              </a:rPr>
              <a:t>SEQUENCE</a:t>
            </a:r>
            <a:r>
              <a:rPr sz="2000" spc="1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000" spc="-140" dirty="0">
                <a:solidFill>
                  <a:srgbClr val="FFFFFF"/>
                </a:solidFill>
                <a:latin typeface="Tahoma"/>
                <a:cs typeface="Tahoma"/>
              </a:rPr>
              <a:t>ANALYSIS</a:t>
            </a:r>
            <a:r>
              <a:rPr sz="2000" spc="1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000" spc="-175" dirty="0">
                <a:solidFill>
                  <a:srgbClr val="FFFFFF"/>
                </a:solidFill>
                <a:latin typeface="Tahoma"/>
                <a:cs typeface="Tahoma"/>
              </a:rPr>
              <a:t>(GENE</a:t>
            </a:r>
            <a:r>
              <a:rPr sz="2000" spc="1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000" spc="-55" dirty="0">
                <a:solidFill>
                  <a:srgbClr val="FFFFFF"/>
                </a:solidFill>
                <a:latin typeface="Tahoma"/>
                <a:cs typeface="Tahoma"/>
              </a:rPr>
              <a:t>LEVEL)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622554" y="4869077"/>
            <a:ext cx="13129260" cy="2244725"/>
          </a:xfrm>
          <a:custGeom>
            <a:avLst/>
            <a:gdLst/>
            <a:ahLst/>
            <a:cxnLst/>
            <a:rect l="l" t="t" r="r" b="b"/>
            <a:pathLst>
              <a:path w="13129260" h="2244725">
                <a:moveTo>
                  <a:pt x="4397730" y="0"/>
                </a:moveTo>
                <a:lnTo>
                  <a:pt x="0" y="0"/>
                </a:lnTo>
                <a:lnTo>
                  <a:pt x="0" y="2244153"/>
                </a:lnTo>
                <a:lnTo>
                  <a:pt x="4397730" y="2244153"/>
                </a:lnTo>
                <a:lnTo>
                  <a:pt x="4397730" y="0"/>
                </a:lnTo>
                <a:close/>
              </a:path>
              <a:path w="13129260" h="2244725">
                <a:moveTo>
                  <a:pt x="8697277" y="0"/>
                </a:moveTo>
                <a:lnTo>
                  <a:pt x="4488967" y="0"/>
                </a:lnTo>
                <a:lnTo>
                  <a:pt x="4488967" y="2244153"/>
                </a:lnTo>
                <a:lnTo>
                  <a:pt x="8697277" y="2244153"/>
                </a:lnTo>
                <a:lnTo>
                  <a:pt x="8697277" y="0"/>
                </a:lnTo>
                <a:close/>
              </a:path>
              <a:path w="13129260" h="2244725">
                <a:moveTo>
                  <a:pt x="13128854" y="0"/>
                </a:moveTo>
                <a:lnTo>
                  <a:pt x="8920543" y="0"/>
                </a:lnTo>
                <a:lnTo>
                  <a:pt x="8920543" y="2244153"/>
                </a:lnTo>
                <a:lnTo>
                  <a:pt x="13128854" y="2244153"/>
                </a:lnTo>
                <a:lnTo>
                  <a:pt x="13128854" y="0"/>
                </a:lnTo>
                <a:close/>
              </a:path>
            </a:pathLst>
          </a:custGeom>
          <a:solidFill>
            <a:srgbClr val="457C9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 txBox="1"/>
          <p:nvPr/>
        </p:nvSpPr>
        <p:spPr>
          <a:xfrm>
            <a:off x="1882733" y="4596746"/>
            <a:ext cx="1290320" cy="315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900" spc="-120" dirty="0">
                <a:latin typeface="Tahoma"/>
                <a:cs typeface="Tahoma"/>
              </a:rPr>
              <a:t>NCBi</a:t>
            </a:r>
            <a:r>
              <a:rPr sz="1900" spc="-30" dirty="0">
                <a:latin typeface="Tahoma"/>
                <a:cs typeface="Tahoma"/>
              </a:rPr>
              <a:t> </a:t>
            </a:r>
            <a:r>
              <a:rPr sz="1900" spc="-105" dirty="0">
                <a:latin typeface="Tahoma"/>
                <a:cs typeface="Tahoma"/>
              </a:rPr>
              <a:t>BLASTN</a:t>
            </a:r>
            <a:endParaRPr sz="1900">
              <a:latin typeface="Tahoma"/>
              <a:cs typeface="Tahoma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6369959" y="4596746"/>
            <a:ext cx="1146810" cy="315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900" spc="-204" dirty="0">
                <a:latin typeface="Tahoma"/>
                <a:cs typeface="Tahoma"/>
              </a:rPr>
              <a:t>ORF</a:t>
            </a:r>
            <a:r>
              <a:rPr sz="1900" dirty="0">
                <a:latin typeface="Tahoma"/>
                <a:cs typeface="Tahoma"/>
              </a:rPr>
              <a:t> </a:t>
            </a:r>
            <a:r>
              <a:rPr sz="1900" spc="-175" dirty="0">
                <a:latin typeface="Tahoma"/>
                <a:cs typeface="Tahoma"/>
              </a:rPr>
              <a:t>FINDER</a:t>
            </a:r>
            <a:endParaRPr sz="1900">
              <a:latin typeface="Tahoma"/>
              <a:cs typeface="Tahoma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622565" y="4869069"/>
            <a:ext cx="4398010" cy="1909497"/>
          </a:xfrm>
          <a:prstGeom prst="rect">
            <a:avLst/>
          </a:prstGeom>
        </p:spPr>
        <p:txBody>
          <a:bodyPr vert="horz" wrap="square" lIns="0" tIns="2667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10"/>
              </a:spcBef>
            </a:pPr>
            <a:endParaRPr sz="1700" dirty="0">
              <a:latin typeface="Times New Roman"/>
              <a:cs typeface="Times New Roman"/>
            </a:endParaRPr>
          </a:p>
          <a:p>
            <a:pPr marL="2971165" indent="-194945">
              <a:lnSpc>
                <a:spcPct val="100000"/>
              </a:lnSpc>
              <a:buAutoNum type="arabicPeriod"/>
              <a:tabLst>
                <a:tab pos="2971165" algn="l"/>
              </a:tabLst>
            </a:pPr>
            <a:r>
              <a:rPr sz="1700" spc="-65" dirty="0">
                <a:latin typeface="Tahoma"/>
                <a:cs typeface="Tahoma"/>
              </a:rPr>
              <a:t>ALIGNMENT</a:t>
            </a:r>
            <a:endParaRPr lang="en-US" sz="1700" spc="-65" dirty="0">
              <a:latin typeface="Tahoma"/>
              <a:cs typeface="Tahoma"/>
            </a:endParaRPr>
          </a:p>
          <a:p>
            <a:pPr marL="2971165" indent="-194945">
              <a:lnSpc>
                <a:spcPct val="100000"/>
              </a:lnSpc>
              <a:buAutoNum type="arabicPeriod"/>
              <a:tabLst>
                <a:tab pos="2971165" algn="l"/>
              </a:tabLst>
            </a:pPr>
            <a:r>
              <a:rPr lang="en-US" sz="1700" spc="-65" dirty="0">
                <a:latin typeface="Tahoma"/>
                <a:cs typeface="Tahoma"/>
              </a:rPr>
              <a:t>DESCRIPTION</a:t>
            </a:r>
            <a:endParaRPr sz="1700" dirty="0">
              <a:latin typeface="Tahoma"/>
              <a:cs typeface="Tahoma"/>
            </a:endParaRPr>
          </a:p>
          <a:p>
            <a:pPr>
              <a:lnSpc>
                <a:spcPct val="100000"/>
              </a:lnSpc>
              <a:buFont typeface="Tahoma"/>
              <a:buAutoNum type="arabicPeriod"/>
            </a:pPr>
            <a:endParaRPr sz="1700" dirty="0">
              <a:latin typeface="Tahoma"/>
              <a:cs typeface="Tahoma"/>
            </a:endParaRPr>
          </a:p>
          <a:p>
            <a:pPr>
              <a:lnSpc>
                <a:spcPct val="100000"/>
              </a:lnSpc>
              <a:buFont typeface="Tahoma"/>
              <a:buAutoNum type="arabicPeriod"/>
            </a:pPr>
            <a:endParaRPr sz="1700" dirty="0">
              <a:latin typeface="Tahoma"/>
              <a:cs typeface="Tahoma"/>
            </a:endParaRPr>
          </a:p>
          <a:p>
            <a:pPr>
              <a:lnSpc>
                <a:spcPct val="100000"/>
              </a:lnSpc>
              <a:buFont typeface="Tahoma"/>
              <a:buAutoNum type="arabicPeriod"/>
            </a:pPr>
            <a:endParaRPr sz="1700" dirty="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425"/>
              </a:spcBef>
            </a:pPr>
            <a:endParaRPr sz="1700" dirty="0">
              <a:latin typeface="Tahoma"/>
              <a:cs typeface="Tahoma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667649" y="3248627"/>
            <a:ext cx="12531090" cy="0"/>
          </a:xfrm>
          <a:custGeom>
            <a:avLst/>
            <a:gdLst/>
            <a:ahLst/>
            <a:cxnLst/>
            <a:rect l="l" t="t" r="r" b="b"/>
            <a:pathLst>
              <a:path w="12531090">
                <a:moveTo>
                  <a:pt x="0" y="0"/>
                </a:moveTo>
                <a:lnTo>
                  <a:pt x="12530610" y="0"/>
                </a:lnTo>
              </a:path>
            </a:pathLst>
          </a:custGeom>
          <a:ln w="16470">
            <a:solidFill>
              <a:srgbClr val="457C9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29" name="object 29"/>
          <p:cNvGrpSpPr/>
          <p:nvPr/>
        </p:nvGrpSpPr>
        <p:grpSpPr>
          <a:xfrm>
            <a:off x="409263" y="4113169"/>
            <a:ext cx="12861022" cy="6901776"/>
            <a:chOff x="409263" y="4113169"/>
            <a:chExt cx="12861022" cy="6901776"/>
          </a:xfrm>
        </p:grpSpPr>
        <p:pic>
          <p:nvPicPr>
            <p:cNvPr id="35" name="object 35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101280" y="4459688"/>
              <a:ext cx="745308" cy="547657"/>
            </a:xfrm>
            <a:prstGeom prst="rect">
              <a:avLst/>
            </a:prstGeom>
          </p:spPr>
        </p:pic>
        <p:sp>
          <p:nvSpPr>
            <p:cNvPr id="36" name="object 36"/>
            <p:cNvSpPr/>
            <p:nvPr/>
          </p:nvSpPr>
          <p:spPr>
            <a:xfrm>
              <a:off x="1021135" y="4113169"/>
              <a:ext cx="12249150" cy="0"/>
            </a:xfrm>
            <a:custGeom>
              <a:avLst/>
              <a:gdLst/>
              <a:ahLst/>
              <a:cxnLst/>
              <a:rect l="l" t="t" r="r" b="b"/>
              <a:pathLst>
                <a:path w="12249150">
                  <a:moveTo>
                    <a:pt x="0" y="0"/>
                  </a:moveTo>
                  <a:lnTo>
                    <a:pt x="12249109" y="0"/>
                  </a:lnTo>
                </a:path>
              </a:pathLst>
            </a:custGeom>
            <a:ln w="16470">
              <a:solidFill>
                <a:srgbClr val="457C9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409263" y="7834865"/>
              <a:ext cx="6337935" cy="3180080"/>
            </a:xfrm>
            <a:custGeom>
              <a:avLst/>
              <a:gdLst/>
              <a:ahLst/>
              <a:cxnLst/>
              <a:rect l="l" t="t" r="r" b="b"/>
              <a:pathLst>
                <a:path w="6337934" h="3180079">
                  <a:moveTo>
                    <a:pt x="6337699" y="3179929"/>
                  </a:moveTo>
                  <a:lnTo>
                    <a:pt x="0" y="3179929"/>
                  </a:lnTo>
                  <a:lnTo>
                    <a:pt x="0" y="0"/>
                  </a:lnTo>
                  <a:lnTo>
                    <a:pt x="6337699" y="0"/>
                  </a:lnTo>
                  <a:lnTo>
                    <a:pt x="6337699" y="3179929"/>
                  </a:lnTo>
                  <a:close/>
                </a:path>
              </a:pathLst>
            </a:custGeom>
            <a:solidFill>
              <a:srgbClr val="B5CC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409263" y="7399744"/>
              <a:ext cx="4531995" cy="432434"/>
            </a:xfrm>
            <a:custGeom>
              <a:avLst/>
              <a:gdLst/>
              <a:ahLst/>
              <a:cxnLst/>
              <a:rect l="l" t="t" r="r" b="b"/>
              <a:pathLst>
                <a:path w="4531995" h="432434">
                  <a:moveTo>
                    <a:pt x="4531676" y="432115"/>
                  </a:moveTo>
                  <a:lnTo>
                    <a:pt x="0" y="432115"/>
                  </a:lnTo>
                  <a:lnTo>
                    <a:pt x="0" y="0"/>
                  </a:lnTo>
                  <a:lnTo>
                    <a:pt x="4531676" y="0"/>
                  </a:lnTo>
                  <a:lnTo>
                    <a:pt x="4531676" y="432115"/>
                  </a:lnTo>
                  <a:close/>
                </a:path>
              </a:pathLst>
            </a:custGeom>
            <a:solidFill>
              <a:srgbClr val="457C9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9" name="object 39"/>
          <p:cNvSpPr txBox="1"/>
          <p:nvPr/>
        </p:nvSpPr>
        <p:spPr>
          <a:xfrm>
            <a:off x="539592" y="3445492"/>
            <a:ext cx="2046605" cy="593090"/>
          </a:xfrm>
          <a:prstGeom prst="rect">
            <a:avLst/>
          </a:prstGeom>
          <a:solidFill>
            <a:srgbClr val="457C9A"/>
          </a:solidFill>
        </p:spPr>
        <p:txBody>
          <a:bodyPr vert="horz" wrap="square" lIns="0" tIns="0" rIns="0" bIns="0" rtlCol="0">
            <a:spAutoFit/>
          </a:bodyPr>
          <a:lstStyle/>
          <a:p>
            <a:pPr marL="358140">
              <a:lnSpc>
                <a:spcPct val="100000"/>
              </a:lnSpc>
            </a:pPr>
            <a:r>
              <a:rPr sz="1700" spc="-175" dirty="0">
                <a:solidFill>
                  <a:srgbClr val="FFFFFF"/>
                </a:solidFill>
                <a:latin typeface="Tahoma"/>
                <a:cs typeface="Tahoma"/>
              </a:rPr>
              <a:t>DNA</a:t>
            </a:r>
            <a:r>
              <a:rPr sz="1700" spc="-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700" spc="-10" dirty="0">
                <a:solidFill>
                  <a:srgbClr val="FFFFFF"/>
                </a:solidFill>
                <a:latin typeface="Tahoma"/>
                <a:cs typeface="Tahoma"/>
              </a:rPr>
              <a:t>Sequence</a:t>
            </a:r>
            <a:endParaRPr sz="1700">
              <a:latin typeface="Tahoma"/>
              <a:cs typeface="Tahoma"/>
            </a:endParaRPr>
          </a:p>
          <a:p>
            <a:pPr marL="566420">
              <a:lnSpc>
                <a:spcPct val="100000"/>
              </a:lnSpc>
              <a:spcBef>
                <a:spcPts val="334"/>
              </a:spcBef>
            </a:pPr>
            <a:r>
              <a:rPr sz="1700" spc="65" dirty="0">
                <a:solidFill>
                  <a:srgbClr val="FFFFFF"/>
                </a:solidFill>
                <a:latin typeface="Tahoma"/>
                <a:cs typeface="Tahoma"/>
              </a:rPr>
              <a:t>Analysis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2805474" y="3445492"/>
            <a:ext cx="2001520" cy="593090"/>
          </a:xfrm>
          <a:prstGeom prst="rect">
            <a:avLst/>
          </a:prstGeom>
          <a:solidFill>
            <a:srgbClr val="457C9A"/>
          </a:solidFill>
        </p:spPr>
        <p:txBody>
          <a:bodyPr vert="horz" wrap="square" lIns="0" tIns="180975" rIns="0" bIns="0" rtlCol="0">
            <a:spAutoFit/>
          </a:bodyPr>
          <a:lstStyle/>
          <a:p>
            <a:pPr marL="360045">
              <a:lnSpc>
                <a:spcPct val="100000"/>
              </a:lnSpc>
              <a:spcBef>
                <a:spcPts val="1425"/>
              </a:spcBef>
            </a:pPr>
            <a:r>
              <a:rPr sz="1700" spc="-125" dirty="0">
                <a:solidFill>
                  <a:srgbClr val="FFFFFF"/>
                </a:solidFill>
                <a:latin typeface="Tahoma"/>
                <a:cs typeface="Tahoma"/>
              </a:rPr>
              <a:t>RNA</a:t>
            </a:r>
            <a:r>
              <a:rPr sz="1700" spc="-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700" spc="65" dirty="0">
                <a:solidFill>
                  <a:srgbClr val="FFFFFF"/>
                </a:solidFill>
                <a:latin typeface="Tahoma"/>
                <a:cs typeface="Tahoma"/>
              </a:rPr>
              <a:t>Analysis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5009841" y="3445492"/>
            <a:ext cx="2046605" cy="593090"/>
          </a:xfrm>
          <a:prstGeom prst="rect">
            <a:avLst/>
          </a:prstGeom>
          <a:solidFill>
            <a:srgbClr val="457C9A"/>
          </a:solidFill>
        </p:spPr>
        <p:txBody>
          <a:bodyPr vert="horz" wrap="square" lIns="0" tIns="196215" rIns="0" bIns="0" rtlCol="0">
            <a:spAutoFit/>
          </a:bodyPr>
          <a:lstStyle/>
          <a:p>
            <a:pPr marL="162560">
              <a:lnSpc>
                <a:spcPct val="100000"/>
              </a:lnSpc>
              <a:spcBef>
                <a:spcPts val="1545"/>
              </a:spcBef>
            </a:pPr>
            <a:r>
              <a:rPr sz="1700" spc="65" dirty="0">
                <a:solidFill>
                  <a:srgbClr val="FFFFFF"/>
                </a:solidFill>
                <a:latin typeface="Tahoma"/>
                <a:cs typeface="Tahoma"/>
              </a:rPr>
              <a:t>Protein</a:t>
            </a:r>
            <a:r>
              <a:rPr sz="1700" spc="-2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700" spc="65" dirty="0">
                <a:solidFill>
                  <a:srgbClr val="FFFFFF"/>
                </a:solidFill>
                <a:latin typeface="Tahoma"/>
                <a:cs typeface="Tahoma"/>
              </a:rPr>
              <a:t>Analysis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7304506" y="3445492"/>
            <a:ext cx="2046605" cy="593090"/>
          </a:xfrm>
          <a:prstGeom prst="rect">
            <a:avLst/>
          </a:prstGeom>
          <a:solidFill>
            <a:srgbClr val="457C9A"/>
          </a:solidFill>
        </p:spPr>
        <p:txBody>
          <a:bodyPr vert="horz" wrap="square" lIns="0" tIns="0" rIns="0" bIns="0" rtlCol="0">
            <a:spAutoFit/>
          </a:bodyPr>
          <a:lstStyle/>
          <a:p>
            <a:pPr marL="374650" marR="406400" indent="40005">
              <a:lnSpc>
                <a:spcPts val="2370"/>
              </a:lnSpc>
            </a:pPr>
            <a:r>
              <a:rPr sz="1700" spc="110" dirty="0">
                <a:solidFill>
                  <a:srgbClr val="FFFFFF"/>
                </a:solidFill>
                <a:latin typeface="Tahoma"/>
                <a:cs typeface="Tahoma"/>
              </a:rPr>
              <a:t>Subcellular </a:t>
            </a:r>
            <a:r>
              <a:rPr sz="1700" spc="65" dirty="0">
                <a:solidFill>
                  <a:srgbClr val="FFFFFF"/>
                </a:solidFill>
                <a:latin typeface="Tahoma"/>
                <a:cs typeface="Tahoma"/>
              </a:rPr>
              <a:t>Localization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9517945" y="3445492"/>
            <a:ext cx="2046605" cy="581025"/>
          </a:xfrm>
          <a:prstGeom prst="rect">
            <a:avLst/>
          </a:prstGeom>
          <a:solidFill>
            <a:srgbClr val="457C9A"/>
          </a:solidFill>
        </p:spPr>
        <p:txBody>
          <a:bodyPr vert="horz" wrap="square" lIns="0" tIns="0" rIns="0" bIns="0" rtlCol="0">
            <a:spAutoFit/>
          </a:bodyPr>
          <a:lstStyle/>
          <a:p>
            <a:pPr marL="599440" marR="368935" indent="-222250">
              <a:lnSpc>
                <a:spcPts val="2370"/>
              </a:lnSpc>
            </a:pPr>
            <a:r>
              <a:rPr sz="1700" spc="-155" dirty="0">
                <a:solidFill>
                  <a:srgbClr val="FFFFFF"/>
                </a:solidFill>
                <a:latin typeface="Tahoma"/>
                <a:cs typeface="Tahoma"/>
              </a:rPr>
              <a:t>PHYLOGENETIC </a:t>
            </a:r>
            <a:r>
              <a:rPr sz="1700" spc="-10" dirty="0">
                <a:solidFill>
                  <a:srgbClr val="FFFFFF"/>
                </a:solidFill>
                <a:latin typeface="Tahoma"/>
                <a:cs typeface="Tahoma"/>
              </a:rPr>
              <a:t>ANALYSIS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11704212" y="3445492"/>
            <a:ext cx="2046605" cy="581025"/>
          </a:xfrm>
          <a:prstGeom prst="rect">
            <a:avLst/>
          </a:prstGeom>
          <a:solidFill>
            <a:srgbClr val="457C9A"/>
          </a:solidFill>
        </p:spPr>
        <p:txBody>
          <a:bodyPr vert="horz" wrap="square" lIns="0" tIns="0" rIns="0" bIns="0" rtlCol="0">
            <a:spAutoFit/>
          </a:bodyPr>
          <a:lstStyle/>
          <a:p>
            <a:pPr marL="499109" marR="175895" indent="-215900">
              <a:lnSpc>
                <a:spcPts val="2370"/>
              </a:lnSpc>
            </a:pPr>
            <a:r>
              <a:rPr sz="1700" spc="-130" dirty="0">
                <a:solidFill>
                  <a:srgbClr val="FFFFFF"/>
                </a:solidFill>
                <a:latin typeface="Tahoma"/>
                <a:cs typeface="Tahoma"/>
              </a:rPr>
              <a:t>PROTEIN-</a:t>
            </a:r>
            <a:r>
              <a:rPr sz="1700" spc="-160" dirty="0">
                <a:solidFill>
                  <a:srgbClr val="FFFFFF"/>
                </a:solidFill>
                <a:latin typeface="Tahoma"/>
                <a:cs typeface="Tahoma"/>
              </a:rPr>
              <a:t>PROTEIN </a:t>
            </a:r>
            <a:r>
              <a:rPr sz="1700" spc="-85" dirty="0">
                <a:solidFill>
                  <a:srgbClr val="FFFFFF"/>
                </a:solidFill>
                <a:latin typeface="Tahoma"/>
                <a:cs typeface="Tahoma"/>
              </a:rPr>
              <a:t>INTERACTION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595908" y="7445075"/>
            <a:ext cx="3437890" cy="3238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950" spc="-135" dirty="0">
                <a:solidFill>
                  <a:srgbClr val="FFFFFF"/>
                </a:solidFill>
                <a:latin typeface="Tahoma"/>
                <a:cs typeface="Tahoma"/>
              </a:rPr>
              <a:t>RNA</a:t>
            </a:r>
            <a:r>
              <a:rPr sz="1950" spc="-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950" spc="85" dirty="0">
                <a:solidFill>
                  <a:srgbClr val="FFFFFF"/>
                </a:solidFill>
                <a:latin typeface="Tahoma"/>
                <a:cs typeface="Tahoma"/>
              </a:rPr>
              <a:t>Analysis</a:t>
            </a:r>
            <a:r>
              <a:rPr sz="195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950" spc="-180" dirty="0">
                <a:solidFill>
                  <a:srgbClr val="FFFFFF"/>
                </a:solidFill>
                <a:latin typeface="Tahoma"/>
                <a:cs typeface="Tahoma"/>
              </a:rPr>
              <a:t>(mRNA</a:t>
            </a:r>
            <a:r>
              <a:rPr sz="195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950" spc="60" dirty="0">
                <a:solidFill>
                  <a:srgbClr val="FFFFFF"/>
                </a:solidFill>
                <a:latin typeface="Tahoma"/>
                <a:cs typeface="Tahoma"/>
              </a:rPr>
              <a:t>Features)</a:t>
            </a:r>
            <a:endParaRPr sz="1950">
              <a:latin typeface="Tahoma"/>
              <a:cs typeface="Tahoma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3811518" y="7784465"/>
            <a:ext cx="938530" cy="3238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950" spc="-170" dirty="0">
                <a:latin typeface="Tahoma"/>
                <a:cs typeface="Tahoma"/>
              </a:rPr>
              <a:t>RNAFOLD</a:t>
            </a:r>
            <a:endParaRPr sz="1950">
              <a:latin typeface="Tahoma"/>
              <a:cs typeface="Tahoma"/>
            </a:endParaRPr>
          </a:p>
        </p:txBody>
      </p:sp>
      <p:grpSp>
        <p:nvGrpSpPr>
          <p:cNvPr id="49" name="object 49"/>
          <p:cNvGrpSpPr/>
          <p:nvPr/>
        </p:nvGrpSpPr>
        <p:grpSpPr>
          <a:xfrm>
            <a:off x="6869434" y="7423318"/>
            <a:ext cx="6981825" cy="3598545"/>
            <a:chOff x="6869434" y="7423318"/>
            <a:chExt cx="6981825" cy="3598545"/>
          </a:xfrm>
        </p:grpSpPr>
        <p:sp>
          <p:nvSpPr>
            <p:cNvPr id="50" name="object 50"/>
            <p:cNvSpPr/>
            <p:nvPr/>
          </p:nvSpPr>
          <p:spPr>
            <a:xfrm>
              <a:off x="6926028" y="7797583"/>
              <a:ext cx="6925309" cy="3224530"/>
            </a:xfrm>
            <a:custGeom>
              <a:avLst/>
              <a:gdLst/>
              <a:ahLst/>
              <a:cxnLst/>
              <a:rect l="l" t="t" r="r" b="b"/>
              <a:pathLst>
                <a:path w="6925309" h="3224529">
                  <a:moveTo>
                    <a:pt x="6924934" y="3224249"/>
                  </a:moveTo>
                  <a:lnTo>
                    <a:pt x="0" y="3224249"/>
                  </a:lnTo>
                  <a:lnTo>
                    <a:pt x="0" y="0"/>
                  </a:lnTo>
                  <a:lnTo>
                    <a:pt x="6924934" y="0"/>
                  </a:lnTo>
                  <a:lnTo>
                    <a:pt x="6924934" y="3224249"/>
                  </a:lnTo>
                  <a:close/>
                </a:path>
              </a:pathLst>
            </a:custGeom>
            <a:solidFill>
              <a:srgbClr val="B5CC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6869434" y="7423318"/>
              <a:ext cx="3512820" cy="443230"/>
            </a:xfrm>
            <a:custGeom>
              <a:avLst/>
              <a:gdLst/>
              <a:ahLst/>
              <a:cxnLst/>
              <a:rect l="l" t="t" r="r" b="b"/>
              <a:pathLst>
                <a:path w="3512820" h="443229">
                  <a:moveTo>
                    <a:pt x="3512326" y="443195"/>
                  </a:moveTo>
                  <a:lnTo>
                    <a:pt x="0" y="443195"/>
                  </a:lnTo>
                  <a:lnTo>
                    <a:pt x="0" y="0"/>
                  </a:lnTo>
                  <a:lnTo>
                    <a:pt x="3512326" y="0"/>
                  </a:lnTo>
                  <a:lnTo>
                    <a:pt x="3512326" y="443195"/>
                  </a:lnTo>
                  <a:close/>
                </a:path>
              </a:pathLst>
            </a:custGeom>
            <a:solidFill>
              <a:srgbClr val="457C9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2" name="object 52"/>
          <p:cNvSpPr txBox="1"/>
          <p:nvPr/>
        </p:nvSpPr>
        <p:spPr>
          <a:xfrm>
            <a:off x="6987271" y="7492077"/>
            <a:ext cx="2405380" cy="30607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1800" spc="-150" dirty="0">
                <a:solidFill>
                  <a:srgbClr val="FFFFFF"/>
                </a:solidFill>
                <a:latin typeface="Tahoma"/>
                <a:cs typeface="Tahoma"/>
              </a:rPr>
              <a:t>PHYLOGENETIC</a:t>
            </a:r>
            <a:r>
              <a:rPr sz="1800" spc="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spc="-85" dirty="0">
                <a:solidFill>
                  <a:srgbClr val="FFFFFF"/>
                </a:solidFill>
                <a:latin typeface="Tahoma"/>
                <a:cs typeface="Tahoma"/>
              </a:rPr>
              <a:t>ANALYSIS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7234046" y="7854232"/>
            <a:ext cx="1644650" cy="30607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1800" spc="-140" dirty="0">
                <a:latin typeface="Tahoma"/>
                <a:cs typeface="Tahoma"/>
              </a:rPr>
              <a:t>CLUSTALW</a:t>
            </a:r>
            <a:r>
              <a:rPr sz="1800" spc="40" dirty="0">
                <a:latin typeface="Tahoma"/>
                <a:cs typeface="Tahoma"/>
              </a:rPr>
              <a:t> </a:t>
            </a:r>
            <a:r>
              <a:rPr sz="1800" spc="-70" dirty="0">
                <a:latin typeface="Tahoma"/>
                <a:cs typeface="Tahoma"/>
              </a:rPr>
              <a:t>(MSA)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54" name="object 54"/>
          <p:cNvSpPr txBox="1"/>
          <p:nvPr/>
        </p:nvSpPr>
        <p:spPr>
          <a:xfrm>
            <a:off x="10439043" y="7913051"/>
            <a:ext cx="2979420" cy="30607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1800" spc="-114" dirty="0">
                <a:latin typeface="Tahoma"/>
                <a:cs typeface="Tahoma"/>
              </a:rPr>
              <a:t>CLUSTALTREE(PHYLOGENETIC</a:t>
            </a:r>
            <a:r>
              <a:rPr sz="1800" spc="45" dirty="0">
                <a:latin typeface="Tahoma"/>
                <a:cs typeface="Tahoma"/>
              </a:rPr>
              <a:t> </a:t>
            </a:r>
            <a:r>
              <a:rPr sz="1800" spc="-50" dirty="0">
                <a:latin typeface="Tahoma"/>
                <a:cs typeface="Tahoma"/>
              </a:rPr>
              <a:t>)</a:t>
            </a:r>
            <a:endParaRPr sz="1800">
              <a:latin typeface="Tahoma"/>
              <a:cs typeface="Tahoma"/>
            </a:endParaRPr>
          </a:p>
        </p:txBody>
      </p:sp>
      <p:pic>
        <p:nvPicPr>
          <p:cNvPr id="58" name="object 58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4977653" y="7826742"/>
            <a:ext cx="1706303" cy="354556"/>
          </a:xfrm>
          <a:prstGeom prst="rect">
            <a:avLst/>
          </a:prstGeom>
        </p:spPr>
      </p:pic>
      <p:grpSp>
        <p:nvGrpSpPr>
          <p:cNvPr id="59" name="object 59"/>
          <p:cNvGrpSpPr/>
          <p:nvPr/>
        </p:nvGrpSpPr>
        <p:grpSpPr>
          <a:xfrm>
            <a:off x="6837336" y="7478969"/>
            <a:ext cx="3210920" cy="3398520"/>
            <a:chOff x="6837336" y="7478969"/>
            <a:chExt cx="3210920" cy="3398520"/>
          </a:xfrm>
        </p:grpSpPr>
        <p:sp>
          <p:nvSpPr>
            <p:cNvPr id="60" name="object 60"/>
            <p:cNvSpPr/>
            <p:nvPr/>
          </p:nvSpPr>
          <p:spPr>
            <a:xfrm>
              <a:off x="6837336" y="7478969"/>
              <a:ext cx="0" cy="3398520"/>
            </a:xfrm>
            <a:custGeom>
              <a:avLst/>
              <a:gdLst/>
              <a:ahLst/>
              <a:cxnLst/>
              <a:rect l="l" t="t" r="r" b="b"/>
              <a:pathLst>
                <a:path h="3398520">
                  <a:moveTo>
                    <a:pt x="0" y="0"/>
                  </a:moveTo>
                  <a:lnTo>
                    <a:pt x="0" y="3398174"/>
                  </a:lnTo>
                </a:path>
              </a:pathLst>
            </a:custGeom>
            <a:ln w="22159">
              <a:solidFill>
                <a:srgbClr val="457C9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3" name="object 63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9616141" y="8230588"/>
              <a:ext cx="432115" cy="2448656"/>
            </a:xfrm>
            <a:prstGeom prst="rect">
              <a:avLst/>
            </a:prstGeom>
          </p:spPr>
        </p:pic>
      </p:grpSp>
      <p:sp>
        <p:nvSpPr>
          <p:cNvPr id="64" name="object 64"/>
          <p:cNvSpPr txBox="1"/>
          <p:nvPr/>
        </p:nvSpPr>
        <p:spPr>
          <a:xfrm>
            <a:off x="3549575" y="9874009"/>
            <a:ext cx="3004820" cy="8851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2799"/>
              </a:lnSpc>
              <a:spcBef>
                <a:spcPts val="100"/>
              </a:spcBef>
            </a:pPr>
            <a:r>
              <a:rPr sz="1250" spc="-20" dirty="0">
                <a:latin typeface="Verdana"/>
                <a:cs typeface="Verdana"/>
              </a:rPr>
              <a:t>RNAfold</a:t>
            </a:r>
            <a:r>
              <a:rPr sz="1250" spc="-85" dirty="0">
                <a:latin typeface="Verdana"/>
                <a:cs typeface="Verdana"/>
              </a:rPr>
              <a:t> </a:t>
            </a:r>
            <a:r>
              <a:rPr sz="1250" dirty="0">
                <a:latin typeface="Verdana"/>
                <a:cs typeface="Verdana"/>
              </a:rPr>
              <a:t>based</a:t>
            </a:r>
            <a:r>
              <a:rPr sz="1250" spc="-80" dirty="0">
                <a:latin typeface="Verdana"/>
                <a:cs typeface="Verdana"/>
              </a:rPr>
              <a:t> </a:t>
            </a:r>
            <a:r>
              <a:rPr sz="1250" dirty="0">
                <a:latin typeface="Verdana"/>
                <a:cs typeface="Verdana"/>
              </a:rPr>
              <a:t>on</a:t>
            </a:r>
            <a:r>
              <a:rPr sz="1250" spc="275" dirty="0">
                <a:latin typeface="Verdana"/>
                <a:cs typeface="Verdana"/>
              </a:rPr>
              <a:t> </a:t>
            </a:r>
            <a:r>
              <a:rPr sz="1250" spc="-20" dirty="0">
                <a:latin typeface="Verdana"/>
                <a:cs typeface="Verdana"/>
              </a:rPr>
              <a:t>MFE,</a:t>
            </a:r>
            <a:r>
              <a:rPr sz="1250" spc="-85" dirty="0">
                <a:latin typeface="Verdana"/>
                <a:cs typeface="Verdana"/>
              </a:rPr>
              <a:t> </a:t>
            </a:r>
            <a:r>
              <a:rPr sz="1250" spc="-30" dirty="0">
                <a:latin typeface="Verdana"/>
                <a:cs typeface="Verdana"/>
              </a:rPr>
              <a:t>where</a:t>
            </a:r>
            <a:r>
              <a:rPr sz="1250" spc="-80" dirty="0">
                <a:latin typeface="Verdana"/>
                <a:cs typeface="Verdana"/>
              </a:rPr>
              <a:t> </a:t>
            </a:r>
            <a:r>
              <a:rPr sz="1250" spc="-155" dirty="0">
                <a:latin typeface="Verdana"/>
                <a:cs typeface="Verdana"/>
              </a:rPr>
              <a:t>-</a:t>
            </a:r>
            <a:r>
              <a:rPr sz="1250" spc="-25" dirty="0">
                <a:latin typeface="Verdana"/>
                <a:cs typeface="Verdana"/>
              </a:rPr>
              <a:t>MFE </a:t>
            </a:r>
            <a:r>
              <a:rPr sz="1250" spc="-30" dirty="0">
                <a:latin typeface="Verdana"/>
                <a:cs typeface="Verdana"/>
              </a:rPr>
              <a:t>values</a:t>
            </a:r>
            <a:r>
              <a:rPr sz="1250" spc="-50" dirty="0">
                <a:latin typeface="Verdana"/>
                <a:cs typeface="Verdana"/>
              </a:rPr>
              <a:t> </a:t>
            </a:r>
            <a:r>
              <a:rPr sz="1250" spc="-30" dirty="0">
                <a:latin typeface="Verdana"/>
                <a:cs typeface="Verdana"/>
              </a:rPr>
              <a:t>indicate</a:t>
            </a:r>
            <a:r>
              <a:rPr sz="1250" spc="-50" dirty="0">
                <a:latin typeface="Verdana"/>
                <a:cs typeface="Verdana"/>
              </a:rPr>
              <a:t> </a:t>
            </a:r>
            <a:r>
              <a:rPr sz="1250" spc="-40" dirty="0">
                <a:latin typeface="Verdana"/>
                <a:cs typeface="Verdana"/>
              </a:rPr>
              <a:t>greater</a:t>
            </a:r>
            <a:r>
              <a:rPr sz="1250" spc="-45" dirty="0">
                <a:latin typeface="Verdana"/>
                <a:cs typeface="Verdana"/>
              </a:rPr>
              <a:t> </a:t>
            </a:r>
            <a:r>
              <a:rPr sz="1250" spc="-30" dirty="0">
                <a:latin typeface="Verdana"/>
                <a:cs typeface="Verdana"/>
              </a:rPr>
              <a:t>thermodynamic </a:t>
            </a:r>
            <a:r>
              <a:rPr sz="1250" spc="-50" dirty="0">
                <a:latin typeface="Verdana"/>
                <a:cs typeface="Verdana"/>
              </a:rPr>
              <a:t>stability.</a:t>
            </a:r>
            <a:r>
              <a:rPr sz="1250" spc="-35" dirty="0">
                <a:latin typeface="Verdana"/>
                <a:cs typeface="Verdana"/>
              </a:rPr>
              <a:t> </a:t>
            </a:r>
            <a:r>
              <a:rPr sz="1250" spc="-20" dirty="0">
                <a:latin typeface="Verdana"/>
                <a:cs typeface="Verdana"/>
              </a:rPr>
              <a:t>Stable</a:t>
            </a:r>
            <a:r>
              <a:rPr sz="1250" spc="-35" dirty="0">
                <a:latin typeface="Verdana"/>
                <a:cs typeface="Verdana"/>
              </a:rPr>
              <a:t> </a:t>
            </a:r>
            <a:r>
              <a:rPr sz="1250" spc="-55" dirty="0">
                <a:latin typeface="Verdana"/>
                <a:cs typeface="Verdana"/>
              </a:rPr>
              <a:t>stem-</a:t>
            </a:r>
            <a:r>
              <a:rPr sz="1250" dirty="0">
                <a:latin typeface="Verdana"/>
                <a:cs typeface="Verdana"/>
              </a:rPr>
              <a:t>loop</a:t>
            </a:r>
            <a:r>
              <a:rPr sz="1250" spc="-35" dirty="0">
                <a:latin typeface="Verdana"/>
                <a:cs typeface="Verdana"/>
              </a:rPr>
              <a:t> </a:t>
            </a:r>
            <a:r>
              <a:rPr sz="1250" spc="-10" dirty="0">
                <a:latin typeface="Verdana"/>
                <a:cs typeface="Verdana"/>
              </a:rPr>
              <a:t>structures </a:t>
            </a:r>
            <a:r>
              <a:rPr sz="1250" spc="-30" dirty="0">
                <a:latin typeface="Verdana"/>
                <a:cs typeface="Verdana"/>
              </a:rPr>
              <a:t>formed</a:t>
            </a:r>
            <a:r>
              <a:rPr sz="1250" spc="-40" dirty="0">
                <a:latin typeface="Verdana"/>
                <a:cs typeface="Verdana"/>
              </a:rPr>
              <a:t> </a:t>
            </a:r>
            <a:r>
              <a:rPr sz="1250" spc="-55" dirty="0">
                <a:latin typeface="Verdana"/>
                <a:cs typeface="Verdana"/>
              </a:rPr>
              <a:t>through</a:t>
            </a:r>
            <a:r>
              <a:rPr sz="1250" spc="-40" dirty="0">
                <a:latin typeface="Verdana"/>
                <a:cs typeface="Verdana"/>
              </a:rPr>
              <a:t> </a:t>
            </a:r>
            <a:r>
              <a:rPr sz="1250" spc="-35" dirty="0">
                <a:latin typeface="Verdana"/>
                <a:cs typeface="Verdana"/>
              </a:rPr>
              <a:t>complementary</a:t>
            </a:r>
            <a:r>
              <a:rPr sz="1250" spc="-40" dirty="0">
                <a:latin typeface="Verdana"/>
                <a:cs typeface="Verdana"/>
              </a:rPr>
              <a:t> </a:t>
            </a:r>
            <a:r>
              <a:rPr sz="1250" spc="-20" dirty="0">
                <a:latin typeface="Verdana"/>
                <a:cs typeface="Verdana"/>
              </a:rPr>
              <a:t>base</a:t>
            </a:r>
            <a:endParaRPr sz="1250">
              <a:latin typeface="Verdana"/>
              <a:cs typeface="Verdana"/>
            </a:endParaRPr>
          </a:p>
        </p:txBody>
      </p:sp>
      <p:sp>
        <p:nvSpPr>
          <p:cNvPr id="65" name="object 65"/>
          <p:cNvSpPr txBox="1"/>
          <p:nvPr/>
        </p:nvSpPr>
        <p:spPr>
          <a:xfrm>
            <a:off x="3549575" y="10759045"/>
            <a:ext cx="3213100" cy="21526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250" spc="-55" dirty="0">
                <a:latin typeface="Verdana"/>
                <a:cs typeface="Verdana"/>
              </a:rPr>
              <a:t>pairing</a:t>
            </a:r>
            <a:r>
              <a:rPr sz="1250" spc="-80" dirty="0">
                <a:latin typeface="Verdana"/>
                <a:cs typeface="Verdana"/>
              </a:rPr>
              <a:t> </a:t>
            </a:r>
            <a:r>
              <a:rPr sz="1250" spc="-10" dirty="0">
                <a:latin typeface="Verdana"/>
                <a:cs typeface="Verdana"/>
              </a:rPr>
              <a:t>protect</a:t>
            </a:r>
            <a:r>
              <a:rPr sz="1250" spc="-75" dirty="0">
                <a:latin typeface="Verdana"/>
                <a:cs typeface="Verdana"/>
              </a:rPr>
              <a:t> </a:t>
            </a:r>
            <a:r>
              <a:rPr sz="1250" spc="-35" dirty="0">
                <a:latin typeface="Verdana"/>
                <a:cs typeface="Verdana"/>
              </a:rPr>
              <a:t>the</a:t>
            </a:r>
            <a:r>
              <a:rPr sz="1250" spc="-75" dirty="0">
                <a:latin typeface="Verdana"/>
                <a:cs typeface="Verdana"/>
              </a:rPr>
              <a:t> </a:t>
            </a:r>
            <a:r>
              <a:rPr sz="1250" spc="-35" dirty="0">
                <a:latin typeface="Verdana"/>
                <a:cs typeface="Verdana"/>
              </a:rPr>
              <a:t>RNA</a:t>
            </a:r>
            <a:r>
              <a:rPr sz="1250" spc="-75" dirty="0">
                <a:latin typeface="Verdana"/>
                <a:cs typeface="Verdana"/>
              </a:rPr>
              <a:t> </a:t>
            </a:r>
            <a:r>
              <a:rPr sz="1250" spc="-45" dirty="0">
                <a:latin typeface="Verdana"/>
                <a:cs typeface="Verdana"/>
              </a:rPr>
              <a:t>from</a:t>
            </a:r>
            <a:r>
              <a:rPr sz="1250" spc="-75" dirty="0">
                <a:latin typeface="Verdana"/>
                <a:cs typeface="Verdana"/>
              </a:rPr>
              <a:t> </a:t>
            </a:r>
            <a:r>
              <a:rPr sz="1250" spc="-20" dirty="0">
                <a:latin typeface="Verdana"/>
                <a:cs typeface="Verdana"/>
              </a:rPr>
              <a:t>degradation.</a:t>
            </a:r>
            <a:endParaRPr sz="1250">
              <a:latin typeface="Verdana"/>
              <a:cs typeface="Verdana"/>
            </a:endParaRPr>
          </a:p>
        </p:txBody>
      </p:sp>
      <p:grpSp>
        <p:nvGrpSpPr>
          <p:cNvPr id="66" name="object 66"/>
          <p:cNvGrpSpPr/>
          <p:nvPr/>
        </p:nvGrpSpPr>
        <p:grpSpPr>
          <a:xfrm>
            <a:off x="7242819" y="14610249"/>
            <a:ext cx="6619240" cy="5396865"/>
            <a:chOff x="7242819" y="14610249"/>
            <a:chExt cx="6619240" cy="5396865"/>
          </a:xfrm>
        </p:grpSpPr>
        <p:sp>
          <p:nvSpPr>
            <p:cNvPr id="67" name="object 67"/>
            <p:cNvSpPr/>
            <p:nvPr/>
          </p:nvSpPr>
          <p:spPr>
            <a:xfrm>
              <a:off x="7242819" y="15031646"/>
              <a:ext cx="6619240" cy="4975225"/>
            </a:xfrm>
            <a:custGeom>
              <a:avLst/>
              <a:gdLst/>
              <a:ahLst/>
              <a:cxnLst/>
              <a:rect l="l" t="t" r="r" b="b"/>
              <a:pathLst>
                <a:path w="6619240" h="4975225">
                  <a:moveTo>
                    <a:pt x="6619017" y="4975078"/>
                  </a:moveTo>
                  <a:lnTo>
                    <a:pt x="0" y="4975078"/>
                  </a:lnTo>
                  <a:lnTo>
                    <a:pt x="0" y="0"/>
                  </a:lnTo>
                  <a:lnTo>
                    <a:pt x="6619017" y="0"/>
                  </a:lnTo>
                  <a:lnTo>
                    <a:pt x="6619017" y="4975078"/>
                  </a:lnTo>
                  <a:close/>
                </a:path>
              </a:pathLst>
            </a:custGeom>
            <a:solidFill>
              <a:srgbClr val="B5CC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" name="object 68"/>
            <p:cNvSpPr/>
            <p:nvPr/>
          </p:nvSpPr>
          <p:spPr>
            <a:xfrm>
              <a:off x="7567619" y="14610249"/>
              <a:ext cx="5148580" cy="706755"/>
            </a:xfrm>
            <a:custGeom>
              <a:avLst/>
              <a:gdLst/>
              <a:ahLst/>
              <a:cxnLst/>
              <a:rect l="l" t="t" r="r" b="b"/>
              <a:pathLst>
                <a:path w="5148580" h="706755">
                  <a:moveTo>
                    <a:pt x="5148123" y="706605"/>
                  </a:moveTo>
                  <a:lnTo>
                    <a:pt x="0" y="706605"/>
                  </a:lnTo>
                  <a:lnTo>
                    <a:pt x="0" y="0"/>
                  </a:lnTo>
                  <a:lnTo>
                    <a:pt x="5148123" y="0"/>
                  </a:lnTo>
                  <a:lnTo>
                    <a:pt x="5148123" y="706605"/>
                  </a:lnTo>
                  <a:close/>
                </a:path>
              </a:pathLst>
            </a:custGeom>
            <a:solidFill>
              <a:srgbClr val="457C9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9" name="object 69"/>
          <p:cNvSpPr txBox="1"/>
          <p:nvPr/>
        </p:nvSpPr>
        <p:spPr>
          <a:xfrm>
            <a:off x="7653575" y="14625364"/>
            <a:ext cx="4808220" cy="470534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2900" spc="-200" dirty="0">
                <a:solidFill>
                  <a:srgbClr val="FFFFFF"/>
                </a:solidFill>
                <a:latin typeface="Tahoma"/>
                <a:cs typeface="Tahoma"/>
              </a:rPr>
              <a:t>PROTEIN-</a:t>
            </a:r>
            <a:r>
              <a:rPr sz="2900" spc="-275" dirty="0">
                <a:solidFill>
                  <a:srgbClr val="FFFFFF"/>
                </a:solidFill>
                <a:latin typeface="Tahoma"/>
                <a:cs typeface="Tahoma"/>
              </a:rPr>
              <a:t>PROTEIN</a:t>
            </a:r>
            <a:r>
              <a:rPr sz="2900" spc="4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900" spc="-285" dirty="0">
                <a:solidFill>
                  <a:srgbClr val="FFFFFF"/>
                </a:solidFill>
                <a:latin typeface="Tahoma"/>
                <a:cs typeface="Tahoma"/>
              </a:rPr>
              <a:t>INTERACTION</a:t>
            </a:r>
            <a:endParaRPr sz="2900">
              <a:latin typeface="Tahoma"/>
              <a:cs typeface="Tahoma"/>
            </a:endParaRPr>
          </a:p>
        </p:txBody>
      </p:sp>
      <p:grpSp>
        <p:nvGrpSpPr>
          <p:cNvPr id="70" name="object 70"/>
          <p:cNvGrpSpPr/>
          <p:nvPr/>
        </p:nvGrpSpPr>
        <p:grpSpPr>
          <a:xfrm>
            <a:off x="456637" y="14629060"/>
            <a:ext cx="6705600" cy="5379720"/>
            <a:chOff x="456637" y="14629060"/>
            <a:chExt cx="6705600" cy="5379720"/>
          </a:xfrm>
        </p:grpSpPr>
        <p:sp>
          <p:nvSpPr>
            <p:cNvPr id="71" name="object 71"/>
            <p:cNvSpPr/>
            <p:nvPr/>
          </p:nvSpPr>
          <p:spPr>
            <a:xfrm>
              <a:off x="456637" y="15047941"/>
              <a:ext cx="6705600" cy="4961255"/>
            </a:xfrm>
            <a:custGeom>
              <a:avLst/>
              <a:gdLst/>
              <a:ahLst/>
              <a:cxnLst/>
              <a:rect l="l" t="t" r="r" b="b"/>
              <a:pathLst>
                <a:path w="6705600" h="4961255">
                  <a:moveTo>
                    <a:pt x="6705539" y="4960657"/>
                  </a:moveTo>
                  <a:lnTo>
                    <a:pt x="0" y="4960657"/>
                  </a:lnTo>
                  <a:lnTo>
                    <a:pt x="0" y="0"/>
                  </a:lnTo>
                  <a:lnTo>
                    <a:pt x="6705539" y="0"/>
                  </a:lnTo>
                  <a:lnTo>
                    <a:pt x="6705539" y="4960657"/>
                  </a:lnTo>
                  <a:close/>
                </a:path>
              </a:pathLst>
            </a:custGeom>
            <a:solidFill>
              <a:srgbClr val="B5CC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2" name="object 72"/>
            <p:cNvSpPr/>
            <p:nvPr/>
          </p:nvSpPr>
          <p:spPr>
            <a:xfrm>
              <a:off x="456637" y="14629060"/>
              <a:ext cx="4773295" cy="678180"/>
            </a:xfrm>
            <a:custGeom>
              <a:avLst/>
              <a:gdLst/>
              <a:ahLst/>
              <a:cxnLst/>
              <a:rect l="l" t="t" r="r" b="b"/>
              <a:pathLst>
                <a:path w="4773295" h="678180">
                  <a:moveTo>
                    <a:pt x="4773190" y="677764"/>
                  </a:moveTo>
                  <a:lnTo>
                    <a:pt x="0" y="677764"/>
                  </a:lnTo>
                  <a:lnTo>
                    <a:pt x="0" y="0"/>
                  </a:lnTo>
                  <a:lnTo>
                    <a:pt x="4773190" y="0"/>
                  </a:lnTo>
                  <a:lnTo>
                    <a:pt x="4773190" y="677764"/>
                  </a:lnTo>
                  <a:close/>
                </a:path>
              </a:pathLst>
            </a:custGeom>
            <a:solidFill>
              <a:srgbClr val="457C9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3" name="object 73"/>
          <p:cNvSpPr txBox="1"/>
          <p:nvPr/>
        </p:nvSpPr>
        <p:spPr>
          <a:xfrm>
            <a:off x="613124" y="14686514"/>
            <a:ext cx="4117975" cy="448309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2750" spc="-175" dirty="0">
                <a:solidFill>
                  <a:srgbClr val="FFFFFF"/>
                </a:solidFill>
                <a:latin typeface="Tahoma"/>
                <a:cs typeface="Tahoma"/>
              </a:rPr>
              <a:t>SUBCELLULAR</a:t>
            </a:r>
            <a:r>
              <a:rPr sz="2750" spc="4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750" spc="-235" dirty="0">
                <a:solidFill>
                  <a:srgbClr val="FFFFFF"/>
                </a:solidFill>
                <a:latin typeface="Tahoma"/>
                <a:cs typeface="Tahoma"/>
              </a:rPr>
              <a:t>LOCALIZATION</a:t>
            </a:r>
            <a:endParaRPr sz="2750">
              <a:latin typeface="Tahoma"/>
              <a:cs typeface="Tahoma"/>
            </a:endParaRPr>
          </a:p>
        </p:txBody>
      </p:sp>
      <p:sp>
        <p:nvSpPr>
          <p:cNvPr id="75" name="object 75"/>
          <p:cNvSpPr txBox="1"/>
          <p:nvPr/>
        </p:nvSpPr>
        <p:spPr>
          <a:xfrm>
            <a:off x="646961" y="18350059"/>
            <a:ext cx="6412865" cy="154749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 algn="just">
              <a:lnSpc>
                <a:spcPct val="117500"/>
              </a:lnSpc>
              <a:spcBef>
                <a:spcPts val="90"/>
              </a:spcBef>
            </a:pPr>
            <a:r>
              <a:rPr sz="1700" spc="-40" dirty="0">
                <a:latin typeface="Verdana"/>
                <a:cs typeface="Verdana"/>
              </a:rPr>
              <a:t>TAS1R2</a:t>
            </a:r>
            <a:r>
              <a:rPr sz="1700" spc="-55" dirty="0">
                <a:latin typeface="Verdana"/>
                <a:cs typeface="Verdana"/>
              </a:rPr>
              <a:t> </a:t>
            </a:r>
            <a:r>
              <a:rPr sz="1700" dirty="0">
                <a:latin typeface="Verdana"/>
                <a:cs typeface="Verdana"/>
              </a:rPr>
              <a:t>is</a:t>
            </a:r>
            <a:r>
              <a:rPr sz="1700" spc="-55" dirty="0">
                <a:latin typeface="Verdana"/>
                <a:cs typeface="Verdana"/>
              </a:rPr>
              <a:t> </a:t>
            </a:r>
            <a:r>
              <a:rPr sz="1700" dirty="0">
                <a:latin typeface="Verdana"/>
                <a:cs typeface="Verdana"/>
              </a:rPr>
              <a:t>a</a:t>
            </a:r>
            <a:r>
              <a:rPr sz="1700" spc="-60" dirty="0">
                <a:latin typeface="Verdana"/>
                <a:cs typeface="Verdana"/>
              </a:rPr>
              <a:t> G-</a:t>
            </a:r>
            <a:r>
              <a:rPr sz="1700" dirty="0">
                <a:latin typeface="Verdana"/>
                <a:cs typeface="Verdana"/>
              </a:rPr>
              <a:t>protein–coupled</a:t>
            </a:r>
            <a:r>
              <a:rPr sz="1700" spc="-55" dirty="0">
                <a:latin typeface="Verdana"/>
                <a:cs typeface="Verdana"/>
              </a:rPr>
              <a:t> </a:t>
            </a:r>
            <a:r>
              <a:rPr sz="1700" dirty="0">
                <a:latin typeface="Verdana"/>
                <a:cs typeface="Verdana"/>
              </a:rPr>
              <a:t>taste</a:t>
            </a:r>
            <a:r>
              <a:rPr sz="1700" spc="-55" dirty="0">
                <a:latin typeface="Verdana"/>
                <a:cs typeface="Verdana"/>
              </a:rPr>
              <a:t> </a:t>
            </a:r>
            <a:r>
              <a:rPr sz="1700" dirty="0">
                <a:latin typeface="Verdana"/>
                <a:cs typeface="Verdana"/>
              </a:rPr>
              <a:t>receptor</a:t>
            </a:r>
            <a:r>
              <a:rPr sz="1700" spc="-55" dirty="0">
                <a:latin typeface="Verdana"/>
                <a:cs typeface="Verdana"/>
              </a:rPr>
              <a:t> </a:t>
            </a:r>
            <a:r>
              <a:rPr sz="1700" spc="-40" dirty="0">
                <a:latin typeface="Verdana"/>
                <a:cs typeface="Verdana"/>
              </a:rPr>
              <a:t>with</a:t>
            </a:r>
            <a:r>
              <a:rPr sz="1700" spc="-55" dirty="0">
                <a:latin typeface="Verdana"/>
                <a:cs typeface="Verdana"/>
              </a:rPr>
              <a:t> </a:t>
            </a:r>
            <a:r>
              <a:rPr sz="1700" spc="-10" dirty="0">
                <a:latin typeface="Verdana"/>
                <a:cs typeface="Verdana"/>
              </a:rPr>
              <a:t>multiple </a:t>
            </a:r>
            <a:r>
              <a:rPr sz="1700" dirty="0">
                <a:latin typeface="Verdana"/>
                <a:cs typeface="Verdana"/>
              </a:rPr>
              <a:t>hydrophobic</a:t>
            </a:r>
            <a:r>
              <a:rPr sz="1700" spc="330" dirty="0">
                <a:latin typeface="Verdana"/>
                <a:cs typeface="Verdana"/>
              </a:rPr>
              <a:t>  </a:t>
            </a:r>
            <a:r>
              <a:rPr sz="1700" dirty="0">
                <a:latin typeface="Verdana"/>
                <a:cs typeface="Verdana"/>
              </a:rPr>
              <a:t>transmembrane</a:t>
            </a:r>
            <a:r>
              <a:rPr sz="1700" spc="330" dirty="0">
                <a:latin typeface="Verdana"/>
                <a:cs typeface="Verdana"/>
              </a:rPr>
              <a:t>  </a:t>
            </a:r>
            <a:r>
              <a:rPr sz="1700" dirty="0">
                <a:latin typeface="Verdana"/>
                <a:cs typeface="Verdana"/>
              </a:rPr>
              <a:t>helices,</a:t>
            </a:r>
            <a:r>
              <a:rPr sz="1700" spc="330" dirty="0">
                <a:latin typeface="Verdana"/>
                <a:cs typeface="Verdana"/>
              </a:rPr>
              <a:t>  </a:t>
            </a:r>
            <a:r>
              <a:rPr sz="1700" dirty="0">
                <a:latin typeface="Verdana"/>
                <a:cs typeface="Verdana"/>
              </a:rPr>
              <a:t>a</a:t>
            </a:r>
            <a:r>
              <a:rPr sz="1700" spc="330" dirty="0">
                <a:latin typeface="Verdana"/>
                <a:cs typeface="Verdana"/>
              </a:rPr>
              <a:t>  </a:t>
            </a:r>
            <a:r>
              <a:rPr sz="1700" dirty="0">
                <a:latin typeface="Verdana"/>
                <a:cs typeface="Verdana"/>
              </a:rPr>
              <a:t>hallmark</a:t>
            </a:r>
            <a:r>
              <a:rPr sz="1700" spc="330" dirty="0">
                <a:latin typeface="Verdana"/>
                <a:cs typeface="Verdana"/>
              </a:rPr>
              <a:t>  </a:t>
            </a:r>
            <a:r>
              <a:rPr sz="1700" spc="-25" dirty="0">
                <a:latin typeface="Verdana"/>
                <a:cs typeface="Verdana"/>
              </a:rPr>
              <a:t>of </a:t>
            </a:r>
            <a:r>
              <a:rPr sz="1700" spc="-55" dirty="0">
                <a:latin typeface="Verdana"/>
                <a:cs typeface="Verdana"/>
              </a:rPr>
              <a:t>membrane-</a:t>
            </a:r>
            <a:r>
              <a:rPr sz="1700" dirty="0">
                <a:latin typeface="Verdana"/>
                <a:cs typeface="Verdana"/>
              </a:rPr>
              <a:t>spanning</a:t>
            </a:r>
            <a:r>
              <a:rPr sz="1700" spc="45" dirty="0">
                <a:latin typeface="Verdana"/>
                <a:cs typeface="Verdana"/>
              </a:rPr>
              <a:t>  </a:t>
            </a:r>
            <a:r>
              <a:rPr sz="1700" dirty="0">
                <a:latin typeface="Verdana"/>
                <a:cs typeface="Verdana"/>
              </a:rPr>
              <a:t>proteins.</a:t>
            </a:r>
            <a:r>
              <a:rPr sz="1700" spc="45" dirty="0">
                <a:latin typeface="Verdana"/>
                <a:cs typeface="Verdana"/>
              </a:rPr>
              <a:t>  </a:t>
            </a:r>
            <a:r>
              <a:rPr sz="1700" dirty="0">
                <a:latin typeface="Verdana"/>
                <a:cs typeface="Verdana"/>
              </a:rPr>
              <a:t>Its</a:t>
            </a:r>
            <a:r>
              <a:rPr sz="1700" spc="45" dirty="0">
                <a:latin typeface="Verdana"/>
                <a:cs typeface="Verdana"/>
              </a:rPr>
              <a:t>  </a:t>
            </a:r>
            <a:r>
              <a:rPr sz="1700" dirty="0">
                <a:latin typeface="Verdana"/>
                <a:cs typeface="Verdana"/>
              </a:rPr>
              <a:t>function</a:t>
            </a:r>
            <a:r>
              <a:rPr sz="1700" spc="50" dirty="0">
                <a:latin typeface="Verdana"/>
                <a:cs typeface="Verdana"/>
              </a:rPr>
              <a:t>  </a:t>
            </a:r>
            <a:r>
              <a:rPr sz="1700" dirty="0">
                <a:latin typeface="Verdana"/>
                <a:cs typeface="Verdana"/>
              </a:rPr>
              <a:t>in</a:t>
            </a:r>
            <a:r>
              <a:rPr sz="1700" spc="45" dirty="0">
                <a:latin typeface="Verdana"/>
                <a:cs typeface="Verdana"/>
              </a:rPr>
              <a:t>  </a:t>
            </a:r>
            <a:r>
              <a:rPr sz="1700" spc="-10" dirty="0">
                <a:latin typeface="Verdana"/>
                <a:cs typeface="Verdana"/>
              </a:rPr>
              <a:t>detecting </a:t>
            </a:r>
            <a:r>
              <a:rPr sz="1700" dirty="0">
                <a:latin typeface="Verdana"/>
                <a:cs typeface="Verdana"/>
              </a:rPr>
              <a:t>extracellular</a:t>
            </a:r>
            <a:r>
              <a:rPr sz="1700" spc="80" dirty="0">
                <a:latin typeface="Verdana"/>
                <a:cs typeface="Verdana"/>
              </a:rPr>
              <a:t> </a:t>
            </a:r>
            <a:r>
              <a:rPr sz="1700" dirty="0">
                <a:latin typeface="Verdana"/>
                <a:cs typeface="Verdana"/>
              </a:rPr>
              <a:t>sweet</a:t>
            </a:r>
            <a:r>
              <a:rPr sz="1700" spc="85" dirty="0">
                <a:latin typeface="Verdana"/>
                <a:cs typeface="Verdana"/>
              </a:rPr>
              <a:t> </a:t>
            </a:r>
            <a:r>
              <a:rPr sz="1700" dirty="0">
                <a:latin typeface="Verdana"/>
                <a:cs typeface="Verdana"/>
              </a:rPr>
              <a:t>ligands</a:t>
            </a:r>
            <a:r>
              <a:rPr sz="1700" spc="85" dirty="0">
                <a:latin typeface="Verdana"/>
                <a:cs typeface="Verdana"/>
              </a:rPr>
              <a:t> </a:t>
            </a:r>
            <a:r>
              <a:rPr sz="1700" dirty="0">
                <a:latin typeface="Verdana"/>
                <a:cs typeface="Verdana"/>
              </a:rPr>
              <a:t>requires</a:t>
            </a:r>
            <a:r>
              <a:rPr sz="1700" spc="85" dirty="0">
                <a:latin typeface="Verdana"/>
                <a:cs typeface="Verdana"/>
              </a:rPr>
              <a:t> </a:t>
            </a:r>
            <a:r>
              <a:rPr sz="1700" dirty="0">
                <a:latin typeface="Verdana"/>
                <a:cs typeface="Verdana"/>
              </a:rPr>
              <a:t>localization</a:t>
            </a:r>
            <a:r>
              <a:rPr sz="1700" spc="85" dirty="0">
                <a:latin typeface="Verdana"/>
                <a:cs typeface="Verdana"/>
              </a:rPr>
              <a:t> </a:t>
            </a:r>
            <a:r>
              <a:rPr sz="1700" spc="-10" dirty="0">
                <a:latin typeface="Verdana"/>
                <a:cs typeface="Verdana"/>
              </a:rPr>
              <a:t>within</a:t>
            </a:r>
            <a:r>
              <a:rPr sz="1700" spc="85" dirty="0">
                <a:latin typeface="Verdana"/>
                <a:cs typeface="Verdana"/>
              </a:rPr>
              <a:t> </a:t>
            </a:r>
            <a:r>
              <a:rPr sz="1700" spc="-25" dirty="0">
                <a:latin typeface="Verdana"/>
                <a:cs typeface="Verdana"/>
              </a:rPr>
              <a:t>the </a:t>
            </a:r>
            <a:r>
              <a:rPr sz="1700" spc="-10" dirty="0">
                <a:latin typeface="Verdana"/>
                <a:cs typeface="Verdana"/>
              </a:rPr>
              <a:t>plasma</a:t>
            </a:r>
            <a:r>
              <a:rPr sz="1700" spc="-105" dirty="0">
                <a:latin typeface="Verdana"/>
                <a:cs typeface="Verdana"/>
              </a:rPr>
              <a:t> </a:t>
            </a:r>
            <a:r>
              <a:rPr sz="1700" spc="-35" dirty="0">
                <a:latin typeface="Verdana"/>
                <a:cs typeface="Verdana"/>
              </a:rPr>
              <a:t>membrane</a:t>
            </a:r>
            <a:r>
              <a:rPr sz="1700" spc="-100" dirty="0">
                <a:latin typeface="Verdana"/>
                <a:cs typeface="Verdana"/>
              </a:rPr>
              <a:t> </a:t>
            </a:r>
            <a:r>
              <a:rPr sz="1700" dirty="0">
                <a:latin typeface="Verdana"/>
                <a:cs typeface="Verdana"/>
              </a:rPr>
              <a:t>to</a:t>
            </a:r>
            <a:r>
              <a:rPr sz="1700" spc="-100" dirty="0">
                <a:latin typeface="Verdana"/>
                <a:cs typeface="Verdana"/>
              </a:rPr>
              <a:t> </a:t>
            </a:r>
            <a:r>
              <a:rPr sz="1700" spc="-55" dirty="0">
                <a:latin typeface="Verdana"/>
                <a:cs typeface="Verdana"/>
              </a:rPr>
              <a:t>transmit</a:t>
            </a:r>
            <a:r>
              <a:rPr sz="1700" spc="-100" dirty="0">
                <a:latin typeface="Verdana"/>
                <a:cs typeface="Verdana"/>
              </a:rPr>
              <a:t> </a:t>
            </a:r>
            <a:r>
              <a:rPr sz="1700" dirty="0">
                <a:latin typeface="Verdana"/>
                <a:cs typeface="Verdana"/>
              </a:rPr>
              <a:t>signals</a:t>
            </a:r>
            <a:r>
              <a:rPr sz="1700" spc="-105" dirty="0">
                <a:latin typeface="Verdana"/>
                <a:cs typeface="Verdana"/>
              </a:rPr>
              <a:t> </a:t>
            </a:r>
            <a:r>
              <a:rPr sz="1700" spc="-40" dirty="0">
                <a:latin typeface="Verdana"/>
                <a:cs typeface="Verdana"/>
              </a:rPr>
              <a:t>into</a:t>
            </a:r>
            <a:r>
              <a:rPr sz="1700" spc="-100" dirty="0">
                <a:latin typeface="Verdana"/>
                <a:cs typeface="Verdana"/>
              </a:rPr>
              <a:t> </a:t>
            </a:r>
            <a:r>
              <a:rPr sz="1700" spc="-10" dirty="0">
                <a:latin typeface="Verdana"/>
                <a:cs typeface="Verdana"/>
              </a:rPr>
              <a:t>the</a:t>
            </a:r>
            <a:r>
              <a:rPr sz="1700" spc="-100" dirty="0">
                <a:latin typeface="Verdana"/>
                <a:cs typeface="Verdana"/>
              </a:rPr>
              <a:t> </a:t>
            </a:r>
            <a:r>
              <a:rPr sz="1700" spc="-10" dirty="0">
                <a:latin typeface="Verdana"/>
                <a:cs typeface="Verdana"/>
              </a:rPr>
              <a:t>cell.</a:t>
            </a:r>
            <a:endParaRPr sz="1700">
              <a:latin typeface="Verdana"/>
              <a:cs typeface="Verdana"/>
            </a:endParaRPr>
          </a:p>
        </p:txBody>
      </p:sp>
      <p:grpSp>
        <p:nvGrpSpPr>
          <p:cNvPr id="80" name="object 80"/>
          <p:cNvGrpSpPr/>
          <p:nvPr/>
        </p:nvGrpSpPr>
        <p:grpSpPr>
          <a:xfrm>
            <a:off x="5979874" y="14624005"/>
            <a:ext cx="8231799" cy="1270536"/>
            <a:chOff x="5979874" y="14624005"/>
            <a:chExt cx="8231799" cy="1270536"/>
          </a:xfrm>
        </p:grpSpPr>
        <p:pic>
          <p:nvPicPr>
            <p:cNvPr id="82" name="object 82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5979874" y="14734358"/>
              <a:ext cx="1816984" cy="562400"/>
            </a:xfrm>
            <a:prstGeom prst="rect">
              <a:avLst/>
            </a:prstGeom>
          </p:spPr>
        </p:pic>
        <p:pic>
          <p:nvPicPr>
            <p:cNvPr id="83" name="object 83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3266853" y="14624005"/>
              <a:ext cx="944820" cy="1270536"/>
            </a:xfrm>
            <a:prstGeom prst="rect">
              <a:avLst/>
            </a:prstGeom>
          </p:spPr>
        </p:pic>
      </p:grpSp>
      <p:sp>
        <p:nvSpPr>
          <p:cNvPr id="84" name="object 84"/>
          <p:cNvSpPr txBox="1"/>
          <p:nvPr/>
        </p:nvSpPr>
        <p:spPr>
          <a:xfrm>
            <a:off x="5725036" y="15306361"/>
            <a:ext cx="898525" cy="448309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2750" spc="-195" dirty="0">
                <a:latin typeface="Tahoma"/>
                <a:cs typeface="Tahoma"/>
              </a:rPr>
              <a:t>CELLO</a:t>
            </a:r>
            <a:endParaRPr sz="2750">
              <a:latin typeface="Tahoma"/>
              <a:cs typeface="Tahoma"/>
            </a:endParaRPr>
          </a:p>
        </p:txBody>
      </p:sp>
      <p:sp>
        <p:nvSpPr>
          <p:cNvPr id="85" name="object 85"/>
          <p:cNvSpPr txBox="1"/>
          <p:nvPr/>
        </p:nvSpPr>
        <p:spPr>
          <a:xfrm>
            <a:off x="7331630" y="18101304"/>
            <a:ext cx="6405245" cy="149579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l">
              <a:lnSpc>
                <a:spcPct val="113900"/>
              </a:lnSpc>
              <a:spcBef>
                <a:spcPts val="100"/>
              </a:spcBef>
            </a:pPr>
            <a:r>
              <a:rPr lang="en-US" sz="1420" dirty="0">
                <a:latin typeface="Verdana"/>
                <a:cs typeface="Verdana"/>
              </a:rPr>
              <a:t>CFTR is co-expressed and functionally linked with PKA subunits (PRKACA/B/G) for cAMP-dependent activation, chaperones (HSPA8, HSP90AA1) for proper folding, and ubiquitin ligases (RNF5, STUB1) for quality control and degradation.</a:t>
            </a:r>
          </a:p>
          <a:p>
            <a:pPr marL="12700" marR="5080" algn="l">
              <a:lnSpc>
                <a:spcPct val="113900"/>
              </a:lnSpc>
              <a:spcBef>
                <a:spcPts val="100"/>
              </a:spcBef>
            </a:pPr>
            <a:r>
              <a:rPr lang="en-US" sz="1420" dirty="0">
                <a:latin typeface="Verdana"/>
                <a:cs typeface="Verdana"/>
              </a:rPr>
              <a:t>Scaffold proteins SLC9A3R1/2 and GOPC regulate CFTR membrane localization and stability, ensuring efficient epithelial ion transport.</a:t>
            </a:r>
            <a:endParaRPr sz="1420" dirty="0">
              <a:latin typeface="Verdana"/>
              <a:cs typeface="Verdana"/>
            </a:endParaRPr>
          </a:p>
        </p:txBody>
      </p:sp>
      <p:grpSp>
        <p:nvGrpSpPr>
          <p:cNvPr id="86" name="object 86"/>
          <p:cNvGrpSpPr/>
          <p:nvPr/>
        </p:nvGrpSpPr>
        <p:grpSpPr>
          <a:xfrm>
            <a:off x="0" y="11185628"/>
            <a:ext cx="13877290" cy="4264660"/>
            <a:chOff x="0" y="11185628"/>
            <a:chExt cx="13877290" cy="4264660"/>
          </a:xfrm>
        </p:grpSpPr>
        <p:pic>
          <p:nvPicPr>
            <p:cNvPr id="87" name="object 87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0" y="14152356"/>
              <a:ext cx="920506" cy="1297707"/>
            </a:xfrm>
            <a:prstGeom prst="rect">
              <a:avLst/>
            </a:prstGeom>
          </p:spPr>
        </p:pic>
        <p:sp>
          <p:nvSpPr>
            <p:cNvPr id="88" name="object 88"/>
            <p:cNvSpPr/>
            <p:nvPr/>
          </p:nvSpPr>
          <p:spPr>
            <a:xfrm>
              <a:off x="537159" y="11397772"/>
              <a:ext cx="13340080" cy="3080385"/>
            </a:xfrm>
            <a:custGeom>
              <a:avLst/>
              <a:gdLst/>
              <a:ahLst/>
              <a:cxnLst/>
              <a:rect l="l" t="t" r="r" b="b"/>
              <a:pathLst>
                <a:path w="13340080" h="3080384">
                  <a:moveTo>
                    <a:pt x="13339656" y="3079759"/>
                  </a:moveTo>
                  <a:lnTo>
                    <a:pt x="0" y="3079759"/>
                  </a:lnTo>
                  <a:lnTo>
                    <a:pt x="0" y="0"/>
                  </a:lnTo>
                  <a:lnTo>
                    <a:pt x="13339656" y="0"/>
                  </a:lnTo>
                  <a:lnTo>
                    <a:pt x="13339656" y="3079759"/>
                  </a:lnTo>
                  <a:close/>
                </a:path>
              </a:pathLst>
            </a:custGeom>
            <a:solidFill>
              <a:srgbClr val="B5CC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9" name="object 89"/>
            <p:cNvSpPr/>
            <p:nvPr/>
          </p:nvSpPr>
          <p:spPr>
            <a:xfrm>
              <a:off x="537159" y="11185628"/>
              <a:ext cx="5184140" cy="438784"/>
            </a:xfrm>
            <a:custGeom>
              <a:avLst/>
              <a:gdLst/>
              <a:ahLst/>
              <a:cxnLst/>
              <a:rect l="l" t="t" r="r" b="b"/>
              <a:pathLst>
                <a:path w="5184140" h="438784">
                  <a:moveTo>
                    <a:pt x="5183665" y="438686"/>
                  </a:moveTo>
                  <a:lnTo>
                    <a:pt x="0" y="438686"/>
                  </a:lnTo>
                  <a:lnTo>
                    <a:pt x="0" y="0"/>
                  </a:lnTo>
                  <a:lnTo>
                    <a:pt x="5183665" y="0"/>
                  </a:lnTo>
                  <a:lnTo>
                    <a:pt x="5183665" y="438686"/>
                  </a:lnTo>
                  <a:close/>
                </a:path>
              </a:pathLst>
            </a:custGeom>
            <a:solidFill>
              <a:srgbClr val="457C9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0" name="object 90"/>
          <p:cNvSpPr txBox="1"/>
          <p:nvPr/>
        </p:nvSpPr>
        <p:spPr>
          <a:xfrm>
            <a:off x="704201" y="11253220"/>
            <a:ext cx="4755515" cy="30226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800" spc="-175" dirty="0">
                <a:solidFill>
                  <a:srgbClr val="FFFFFF"/>
                </a:solidFill>
                <a:latin typeface="Tahoma"/>
                <a:cs typeface="Tahoma"/>
              </a:rPr>
              <a:t>PROTEIN</a:t>
            </a:r>
            <a:r>
              <a:rPr sz="1800" spc="1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spc="-114" dirty="0">
                <a:solidFill>
                  <a:srgbClr val="FFFFFF"/>
                </a:solidFill>
                <a:latin typeface="Tahoma"/>
                <a:cs typeface="Tahoma"/>
              </a:rPr>
              <a:t>ANALYSIS</a:t>
            </a:r>
            <a:r>
              <a:rPr sz="1800" spc="2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spc="-135" dirty="0">
                <a:solidFill>
                  <a:srgbClr val="FFFFFF"/>
                </a:solidFill>
                <a:latin typeface="Tahoma"/>
                <a:cs typeface="Tahoma"/>
              </a:rPr>
              <a:t>(STRUCTURE</a:t>
            </a:r>
            <a:r>
              <a:rPr sz="1800" spc="2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spc="-175" dirty="0">
                <a:solidFill>
                  <a:srgbClr val="FFFFFF"/>
                </a:solidFill>
                <a:latin typeface="Tahoma"/>
                <a:cs typeface="Tahoma"/>
              </a:rPr>
              <a:t>AND</a:t>
            </a:r>
            <a:r>
              <a:rPr sz="1800" spc="2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spc="-110" dirty="0">
                <a:solidFill>
                  <a:srgbClr val="FFFFFF"/>
                </a:solidFill>
                <a:latin typeface="Tahoma"/>
                <a:cs typeface="Tahoma"/>
              </a:rPr>
              <a:t>PROPERTIES)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91" name="object 91"/>
          <p:cNvSpPr/>
          <p:nvPr/>
        </p:nvSpPr>
        <p:spPr>
          <a:xfrm>
            <a:off x="669709" y="11773306"/>
            <a:ext cx="13063219" cy="2709545"/>
          </a:xfrm>
          <a:custGeom>
            <a:avLst/>
            <a:gdLst/>
            <a:ahLst/>
            <a:cxnLst/>
            <a:rect l="l" t="t" r="r" b="b"/>
            <a:pathLst>
              <a:path w="13063219" h="2709544">
                <a:moveTo>
                  <a:pt x="2775356" y="112763"/>
                </a:moveTo>
                <a:lnTo>
                  <a:pt x="0" y="112763"/>
                </a:lnTo>
                <a:lnTo>
                  <a:pt x="0" y="2709062"/>
                </a:lnTo>
                <a:lnTo>
                  <a:pt x="2775356" y="2709062"/>
                </a:lnTo>
                <a:lnTo>
                  <a:pt x="2775356" y="112763"/>
                </a:lnTo>
                <a:close/>
              </a:path>
              <a:path w="13063219" h="2709544">
                <a:moveTo>
                  <a:pt x="9013546" y="0"/>
                </a:moveTo>
                <a:lnTo>
                  <a:pt x="2898787" y="0"/>
                </a:lnTo>
                <a:lnTo>
                  <a:pt x="2898787" y="2667927"/>
                </a:lnTo>
                <a:lnTo>
                  <a:pt x="9013546" y="2667927"/>
                </a:lnTo>
                <a:lnTo>
                  <a:pt x="9013546" y="0"/>
                </a:lnTo>
                <a:close/>
              </a:path>
              <a:path w="13063219" h="2709544">
                <a:moveTo>
                  <a:pt x="13062598" y="11239"/>
                </a:moveTo>
                <a:lnTo>
                  <a:pt x="9284525" y="11239"/>
                </a:lnTo>
                <a:lnTo>
                  <a:pt x="9284525" y="2670225"/>
                </a:lnTo>
                <a:lnTo>
                  <a:pt x="13062598" y="2670225"/>
                </a:lnTo>
                <a:lnTo>
                  <a:pt x="13062598" y="11239"/>
                </a:lnTo>
                <a:close/>
              </a:path>
            </a:pathLst>
          </a:custGeom>
          <a:solidFill>
            <a:srgbClr val="457C9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3" name="object 93"/>
          <p:cNvSpPr txBox="1"/>
          <p:nvPr/>
        </p:nvSpPr>
        <p:spPr>
          <a:xfrm>
            <a:off x="1748685" y="11597420"/>
            <a:ext cx="1243965" cy="316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900" spc="-120" dirty="0">
                <a:latin typeface="Tahoma"/>
                <a:cs typeface="Tahoma"/>
              </a:rPr>
              <a:t>PROTPRAM</a:t>
            </a:r>
            <a:endParaRPr sz="1900" dirty="0">
              <a:latin typeface="Tahoma"/>
              <a:cs typeface="Tahoma"/>
            </a:endParaRPr>
          </a:p>
        </p:txBody>
      </p:sp>
      <p:sp>
        <p:nvSpPr>
          <p:cNvPr id="94" name="object 94"/>
          <p:cNvSpPr txBox="1"/>
          <p:nvPr/>
        </p:nvSpPr>
        <p:spPr>
          <a:xfrm>
            <a:off x="6316866" y="11439482"/>
            <a:ext cx="571500" cy="316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900" spc="-80" dirty="0">
                <a:latin typeface="Tahoma"/>
                <a:cs typeface="Tahoma"/>
              </a:rPr>
              <a:t>PFAM</a:t>
            </a:r>
            <a:endParaRPr sz="1900">
              <a:latin typeface="Tahoma"/>
              <a:cs typeface="Tahoma"/>
            </a:endParaRPr>
          </a:p>
        </p:txBody>
      </p:sp>
      <p:sp>
        <p:nvSpPr>
          <p:cNvPr id="95" name="object 95"/>
          <p:cNvSpPr txBox="1"/>
          <p:nvPr/>
        </p:nvSpPr>
        <p:spPr>
          <a:xfrm>
            <a:off x="8445119" y="13586521"/>
            <a:ext cx="1194435" cy="6883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indent="217804">
              <a:lnSpc>
                <a:spcPct val="114399"/>
              </a:lnSpc>
              <a:spcBef>
                <a:spcPts val="95"/>
              </a:spcBef>
            </a:pPr>
            <a:r>
              <a:rPr sz="1900" spc="-90" dirty="0">
                <a:latin typeface="Tahoma"/>
                <a:cs typeface="Tahoma"/>
              </a:rPr>
              <a:t>DOMAIN </a:t>
            </a:r>
            <a:r>
              <a:rPr sz="1900" spc="-190" dirty="0">
                <a:latin typeface="Tahoma"/>
                <a:cs typeface="Tahoma"/>
              </a:rPr>
              <a:t>AND</a:t>
            </a:r>
            <a:r>
              <a:rPr sz="1900" spc="-5" dirty="0">
                <a:latin typeface="Tahoma"/>
                <a:cs typeface="Tahoma"/>
              </a:rPr>
              <a:t> </a:t>
            </a:r>
            <a:r>
              <a:rPr sz="1900" spc="-215" dirty="0">
                <a:latin typeface="Tahoma"/>
                <a:cs typeface="Tahoma"/>
              </a:rPr>
              <a:t>MOTIFS</a:t>
            </a:r>
            <a:endParaRPr sz="1900">
              <a:latin typeface="Tahoma"/>
              <a:cs typeface="Tahoma"/>
            </a:endParaRPr>
          </a:p>
        </p:txBody>
      </p:sp>
      <p:sp>
        <p:nvSpPr>
          <p:cNvPr id="96" name="object 96"/>
          <p:cNvSpPr txBox="1"/>
          <p:nvPr/>
        </p:nvSpPr>
        <p:spPr>
          <a:xfrm>
            <a:off x="9954238" y="11784545"/>
            <a:ext cx="3778250" cy="26593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9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9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9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9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9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9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9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90"/>
              </a:spcBef>
            </a:pPr>
            <a:endParaRPr sz="1900">
              <a:latin typeface="Times New Roman"/>
              <a:cs typeface="Times New Roman"/>
            </a:endParaRPr>
          </a:p>
          <a:p>
            <a:pPr marL="844550">
              <a:lnSpc>
                <a:spcPct val="100000"/>
              </a:lnSpc>
            </a:pPr>
            <a:r>
              <a:rPr sz="1900" spc="-175" dirty="0">
                <a:latin typeface="Tahoma"/>
                <a:cs typeface="Tahoma"/>
              </a:rPr>
              <a:t>SECONDARY</a:t>
            </a:r>
            <a:r>
              <a:rPr sz="1900" spc="30" dirty="0">
                <a:latin typeface="Tahoma"/>
                <a:cs typeface="Tahoma"/>
              </a:rPr>
              <a:t> </a:t>
            </a:r>
            <a:r>
              <a:rPr sz="1900" spc="-45" dirty="0">
                <a:latin typeface="Tahoma"/>
                <a:cs typeface="Tahoma"/>
              </a:rPr>
              <a:t>STRUCTURE</a:t>
            </a:r>
            <a:endParaRPr sz="1900">
              <a:latin typeface="Tahoma"/>
              <a:cs typeface="Tahoma"/>
            </a:endParaRPr>
          </a:p>
        </p:txBody>
      </p:sp>
      <p:sp>
        <p:nvSpPr>
          <p:cNvPr id="97" name="object 97"/>
          <p:cNvSpPr txBox="1"/>
          <p:nvPr/>
        </p:nvSpPr>
        <p:spPr>
          <a:xfrm>
            <a:off x="11006295" y="11462072"/>
            <a:ext cx="1672589" cy="316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900" spc="-110" dirty="0">
                <a:latin typeface="Tahoma"/>
                <a:cs typeface="Tahoma"/>
              </a:rPr>
              <a:t>PredICTPROTEIN</a:t>
            </a:r>
            <a:endParaRPr sz="1900">
              <a:latin typeface="Tahoma"/>
              <a:cs typeface="Tahoma"/>
            </a:endParaRPr>
          </a:p>
        </p:txBody>
      </p:sp>
      <p:sp>
        <p:nvSpPr>
          <p:cNvPr id="98" name="object 98"/>
          <p:cNvSpPr/>
          <p:nvPr/>
        </p:nvSpPr>
        <p:spPr>
          <a:xfrm>
            <a:off x="1311854" y="7328121"/>
            <a:ext cx="11341735" cy="0"/>
          </a:xfrm>
          <a:custGeom>
            <a:avLst/>
            <a:gdLst/>
            <a:ahLst/>
            <a:cxnLst/>
            <a:rect l="l" t="t" r="r" b="b"/>
            <a:pathLst>
              <a:path w="11341735">
                <a:moveTo>
                  <a:pt x="0" y="0"/>
                </a:moveTo>
                <a:lnTo>
                  <a:pt x="11341296" y="0"/>
                </a:lnTo>
              </a:path>
            </a:pathLst>
          </a:custGeom>
          <a:ln w="17905">
            <a:solidFill>
              <a:srgbClr val="457C9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99" name="object 99"/>
          <p:cNvGrpSpPr/>
          <p:nvPr/>
        </p:nvGrpSpPr>
        <p:grpSpPr>
          <a:xfrm>
            <a:off x="0" y="7159662"/>
            <a:ext cx="9560997" cy="4792535"/>
            <a:chOff x="0" y="7159662"/>
            <a:chExt cx="9560997" cy="4792535"/>
          </a:xfrm>
        </p:grpSpPr>
        <p:pic>
          <p:nvPicPr>
            <p:cNvPr id="100" name="object 100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0" y="7159662"/>
              <a:ext cx="539247" cy="981794"/>
            </a:xfrm>
            <a:prstGeom prst="rect">
              <a:avLst/>
            </a:prstGeom>
          </p:spPr>
        </p:pic>
        <p:pic>
          <p:nvPicPr>
            <p:cNvPr id="101" name="object 101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625554" y="11610420"/>
              <a:ext cx="1083287" cy="295442"/>
            </a:xfrm>
            <a:prstGeom prst="rect">
              <a:avLst/>
            </a:prstGeom>
          </p:spPr>
        </p:pic>
        <p:sp>
          <p:nvSpPr>
            <p:cNvPr id="102" name="object 102"/>
            <p:cNvSpPr/>
            <p:nvPr/>
          </p:nvSpPr>
          <p:spPr>
            <a:xfrm>
              <a:off x="803211" y="11945847"/>
              <a:ext cx="2498090" cy="6350"/>
            </a:xfrm>
            <a:custGeom>
              <a:avLst/>
              <a:gdLst/>
              <a:ahLst/>
              <a:cxnLst/>
              <a:rect l="l" t="t" r="r" b="b"/>
              <a:pathLst>
                <a:path w="2498090" h="6350">
                  <a:moveTo>
                    <a:pt x="2497836" y="0"/>
                  </a:moveTo>
                  <a:lnTo>
                    <a:pt x="1253388" y="0"/>
                  </a:lnTo>
                  <a:lnTo>
                    <a:pt x="1249248" y="0"/>
                  </a:lnTo>
                  <a:lnTo>
                    <a:pt x="0" y="0"/>
                  </a:lnTo>
                  <a:lnTo>
                    <a:pt x="0" y="5981"/>
                  </a:lnTo>
                  <a:lnTo>
                    <a:pt x="1249248" y="5981"/>
                  </a:lnTo>
                  <a:lnTo>
                    <a:pt x="1253388" y="5981"/>
                  </a:lnTo>
                  <a:lnTo>
                    <a:pt x="2497836" y="5981"/>
                  </a:lnTo>
                  <a:lnTo>
                    <a:pt x="249783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4" name="object 104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8244937" y="11434980"/>
              <a:ext cx="1316060" cy="510308"/>
            </a:xfrm>
            <a:prstGeom prst="rect">
              <a:avLst/>
            </a:prstGeom>
          </p:spPr>
        </p:pic>
      </p:grpSp>
      <p:sp>
        <p:nvSpPr>
          <p:cNvPr id="108" name="object 108"/>
          <p:cNvSpPr txBox="1"/>
          <p:nvPr/>
        </p:nvSpPr>
        <p:spPr>
          <a:xfrm>
            <a:off x="874843" y="12040573"/>
            <a:ext cx="262255" cy="68897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10"/>
              </a:spcBef>
            </a:pPr>
            <a:r>
              <a:rPr sz="1400" spc="-80" dirty="0">
                <a:latin typeface="Arial Black"/>
                <a:cs typeface="Arial Black"/>
              </a:rPr>
              <a:t>AA</a:t>
            </a:r>
            <a:endParaRPr sz="1400">
              <a:latin typeface="Arial Black"/>
              <a:cs typeface="Arial Black"/>
            </a:endParaRPr>
          </a:p>
          <a:p>
            <a:pPr>
              <a:lnSpc>
                <a:spcPct val="100000"/>
              </a:lnSpc>
              <a:spcBef>
                <a:spcPts val="1850"/>
              </a:spcBef>
            </a:pPr>
            <a:r>
              <a:rPr sz="1400" spc="-25" dirty="0">
                <a:latin typeface="Arial Black"/>
                <a:cs typeface="Arial Black"/>
              </a:rPr>
              <a:t>pI</a:t>
            </a:r>
            <a:endParaRPr sz="1400">
              <a:latin typeface="Arial Black"/>
              <a:cs typeface="Arial Black"/>
            </a:endParaRPr>
          </a:p>
        </p:txBody>
      </p:sp>
      <p:sp>
        <p:nvSpPr>
          <p:cNvPr id="109" name="object 109"/>
          <p:cNvSpPr txBox="1"/>
          <p:nvPr/>
        </p:nvSpPr>
        <p:spPr>
          <a:xfrm>
            <a:off x="2736649" y="12040573"/>
            <a:ext cx="506095" cy="68897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R="5080" algn="r">
              <a:lnSpc>
                <a:spcPct val="100000"/>
              </a:lnSpc>
              <a:spcBef>
                <a:spcPts val="110"/>
              </a:spcBef>
            </a:pPr>
            <a:r>
              <a:rPr lang="en-US" sz="1400" spc="-25" dirty="0">
                <a:latin typeface="Arial Black"/>
                <a:cs typeface="Arial Black"/>
              </a:rPr>
              <a:t>2587</a:t>
            </a:r>
            <a:endParaRPr sz="1400" dirty="0">
              <a:latin typeface="Arial Black"/>
              <a:cs typeface="Arial Black"/>
            </a:endParaRPr>
          </a:p>
          <a:p>
            <a:pPr marR="5080" algn="r">
              <a:lnSpc>
                <a:spcPct val="100000"/>
              </a:lnSpc>
              <a:spcBef>
                <a:spcPts val="1850"/>
              </a:spcBef>
            </a:pPr>
            <a:r>
              <a:rPr sz="1400" spc="-80" dirty="0">
                <a:latin typeface="Arial Black"/>
                <a:cs typeface="Arial Black"/>
              </a:rPr>
              <a:t>1.200</a:t>
            </a:r>
            <a:endParaRPr sz="1400" dirty="0">
              <a:latin typeface="Arial Black"/>
              <a:cs typeface="Arial Black"/>
            </a:endParaRPr>
          </a:p>
        </p:txBody>
      </p:sp>
      <p:sp>
        <p:nvSpPr>
          <p:cNvPr id="110" name="object 110"/>
          <p:cNvSpPr txBox="1"/>
          <p:nvPr/>
        </p:nvSpPr>
        <p:spPr>
          <a:xfrm>
            <a:off x="874843" y="12937425"/>
            <a:ext cx="345440" cy="11372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10"/>
              </a:spcBef>
            </a:pPr>
            <a:r>
              <a:rPr sz="1400" spc="-35" dirty="0">
                <a:latin typeface="Arial Black"/>
                <a:cs typeface="Arial Black"/>
              </a:rPr>
              <a:t>MW</a:t>
            </a:r>
            <a:endParaRPr sz="1400">
              <a:latin typeface="Arial Black"/>
              <a:cs typeface="Arial Black"/>
            </a:endParaRPr>
          </a:p>
          <a:p>
            <a:pPr marR="153670">
              <a:lnSpc>
                <a:spcPct val="210200"/>
              </a:lnSpc>
            </a:pPr>
            <a:r>
              <a:rPr sz="1400" spc="-25" dirty="0">
                <a:latin typeface="Arial Black"/>
                <a:cs typeface="Arial Black"/>
              </a:rPr>
              <a:t>II </a:t>
            </a:r>
            <a:r>
              <a:rPr sz="1400" spc="-120" dirty="0">
                <a:latin typeface="Arial Black"/>
                <a:cs typeface="Arial Black"/>
              </a:rPr>
              <a:t>AI</a:t>
            </a:r>
            <a:endParaRPr sz="1400">
              <a:latin typeface="Arial Black"/>
              <a:cs typeface="Arial Black"/>
            </a:endParaRPr>
          </a:p>
        </p:txBody>
      </p:sp>
      <p:sp>
        <p:nvSpPr>
          <p:cNvPr id="111" name="object 111"/>
          <p:cNvSpPr txBox="1"/>
          <p:nvPr/>
        </p:nvSpPr>
        <p:spPr>
          <a:xfrm>
            <a:off x="2746301" y="12937425"/>
            <a:ext cx="496570" cy="904094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36830">
              <a:lnSpc>
                <a:spcPct val="100000"/>
              </a:lnSpc>
              <a:spcBef>
                <a:spcPts val="110"/>
              </a:spcBef>
            </a:pPr>
            <a:r>
              <a:rPr lang="en-US" sz="1400" spc="-45" dirty="0">
                <a:latin typeface="Arial Black"/>
                <a:cs typeface="Arial Black"/>
              </a:rPr>
              <a:t>213114.0</a:t>
            </a:r>
            <a:endParaRPr sz="1400" dirty="0">
              <a:latin typeface="Arial Black"/>
              <a:cs typeface="Arial Black"/>
            </a:endParaRPr>
          </a:p>
          <a:p>
            <a:pPr>
              <a:lnSpc>
                <a:spcPct val="100000"/>
              </a:lnSpc>
              <a:spcBef>
                <a:spcPts val="1850"/>
              </a:spcBef>
            </a:pPr>
            <a:r>
              <a:rPr sz="1400" spc="-80" dirty="0">
                <a:latin typeface="Arial Black"/>
                <a:cs typeface="Arial Black"/>
              </a:rPr>
              <a:t>6.467</a:t>
            </a:r>
            <a:endParaRPr sz="1400" dirty="0">
              <a:latin typeface="Arial Black"/>
              <a:cs typeface="Arial Black"/>
            </a:endParaRPr>
          </a:p>
        </p:txBody>
      </p:sp>
      <p:pic>
        <p:nvPicPr>
          <p:cNvPr id="116" name="Picture 115" descr="A screenshot of a computer">
            <a:extLst>
              <a:ext uri="{FF2B5EF4-FFF2-40B4-BE49-F238E27FC236}">
                <a16:creationId xmlns:a16="http://schemas.microsoft.com/office/drawing/2014/main" xmlns="" id="{61CC6B0B-8255-A15B-FB95-4D6B975B517D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562390" y="4838812"/>
            <a:ext cx="2809460" cy="1298981"/>
          </a:xfrm>
          <a:prstGeom prst="rect">
            <a:avLst/>
          </a:prstGeom>
        </p:spPr>
      </p:pic>
      <p:pic>
        <p:nvPicPr>
          <p:cNvPr id="118" name="Picture 117" descr="A screenshot of a computer&#10;&#10;AI-generated content may be incorrect.">
            <a:extLst>
              <a:ext uri="{FF2B5EF4-FFF2-40B4-BE49-F238E27FC236}">
                <a16:creationId xmlns:a16="http://schemas.microsoft.com/office/drawing/2014/main" xmlns="" id="{60E59546-9829-41D7-1BE9-AD7AC1AC900B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594140" y="6204686"/>
            <a:ext cx="4398010" cy="861060"/>
          </a:xfrm>
          <a:prstGeom prst="rect">
            <a:avLst/>
          </a:prstGeom>
        </p:spPr>
      </p:pic>
      <p:pic>
        <p:nvPicPr>
          <p:cNvPr id="120" name="Picture 119" descr="A screenshot of a computer&#10;&#10;AI-generated content may be incorrect.">
            <a:extLst>
              <a:ext uri="{FF2B5EF4-FFF2-40B4-BE49-F238E27FC236}">
                <a16:creationId xmlns:a16="http://schemas.microsoft.com/office/drawing/2014/main" xmlns="" id="{CB0B5AB5-73E0-B551-78BF-CD01C28988EE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5124192" y="5045332"/>
            <a:ext cx="4066536" cy="1662377"/>
          </a:xfrm>
          <a:prstGeom prst="rect">
            <a:avLst/>
          </a:prstGeom>
        </p:spPr>
      </p:pic>
      <p:pic>
        <p:nvPicPr>
          <p:cNvPr id="122" name="Picture 121" descr="A wire with colorful circles&#10;&#10;AI-generated content may be incorrect.">
            <a:extLst>
              <a:ext uri="{FF2B5EF4-FFF2-40B4-BE49-F238E27FC236}">
                <a16:creationId xmlns:a16="http://schemas.microsoft.com/office/drawing/2014/main" xmlns="" id="{49A0250B-586D-1D35-5FD8-03BFA0F7B746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3574475" y="8228404"/>
            <a:ext cx="3049086" cy="1557507"/>
          </a:xfrm>
          <a:prstGeom prst="rect">
            <a:avLst/>
          </a:prstGeom>
        </p:spPr>
      </p:pic>
      <p:pic>
        <p:nvPicPr>
          <p:cNvPr id="124" name="Picture 123" descr="A close up of a text&#10;&#10;AI-generated content may be incorrect.">
            <a:extLst>
              <a:ext uri="{FF2B5EF4-FFF2-40B4-BE49-F238E27FC236}">
                <a16:creationId xmlns:a16="http://schemas.microsoft.com/office/drawing/2014/main" xmlns="" id="{E059132B-5DD3-8216-E031-30C598C31203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6987272" y="8324513"/>
            <a:ext cx="2530674" cy="1194131"/>
          </a:xfrm>
          <a:prstGeom prst="rect">
            <a:avLst/>
          </a:prstGeom>
        </p:spPr>
      </p:pic>
      <p:pic>
        <p:nvPicPr>
          <p:cNvPr id="126" name="Picture 125" descr="A close-up of a text&#10;&#10;AI-generated content may be incorrect.">
            <a:extLst>
              <a:ext uri="{FF2B5EF4-FFF2-40B4-BE49-F238E27FC236}">
                <a16:creationId xmlns:a16="http://schemas.microsoft.com/office/drawing/2014/main" xmlns="" id="{8458446B-5536-8D1C-534A-A680A9661D82}"/>
              </a:ext>
            </a:extLst>
      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7003334" y="9580052"/>
            <a:ext cx="2530675" cy="1245524"/>
          </a:xfrm>
          <a:prstGeom prst="rect">
            <a:avLst/>
          </a:prstGeom>
        </p:spPr>
      </p:pic>
      <p:pic>
        <p:nvPicPr>
          <p:cNvPr id="128" name="Picture 127" descr="A screenshot of a computer">
            <a:extLst>
              <a:ext uri="{FF2B5EF4-FFF2-40B4-BE49-F238E27FC236}">
                <a16:creationId xmlns:a16="http://schemas.microsoft.com/office/drawing/2014/main" xmlns="" id="{DFC3DF1A-F07A-52E6-571A-1401B62D6C16}"/>
              </a:ext>
            </a:extLst>
      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3676650" y="11940963"/>
            <a:ext cx="4817427" cy="2042371"/>
          </a:xfrm>
          <a:prstGeom prst="rect">
            <a:avLst/>
          </a:prstGeom>
        </p:spPr>
      </p:pic>
      <p:pic>
        <p:nvPicPr>
          <p:cNvPr id="132" name="Picture 131" descr="A network of dna molecules">
            <a:extLst>
              <a:ext uri="{FF2B5EF4-FFF2-40B4-BE49-F238E27FC236}">
                <a16:creationId xmlns:a16="http://schemas.microsoft.com/office/drawing/2014/main" xmlns="" id="{48B4CCE8-C745-4AE1-8384-8D7601944634}"/>
              </a:ext>
            </a:extLst>
      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7410450" y="15287122"/>
            <a:ext cx="5788289" cy="2709545"/>
          </a:xfrm>
          <a:prstGeom prst="rect">
            <a:avLst/>
          </a:prstGeom>
        </p:spPr>
      </p:pic>
      <p:pic>
        <p:nvPicPr>
          <p:cNvPr id="134" name="Picture 133" descr="A white and grey striped background&#10;&#10;AI-generated content may be incorrect.">
            <a:extLst>
              <a:ext uri="{FF2B5EF4-FFF2-40B4-BE49-F238E27FC236}">
                <a16:creationId xmlns:a16="http://schemas.microsoft.com/office/drawing/2014/main" xmlns="" id="{77EFC5FA-DD5D-ED01-382A-BC88634E8798}"/>
              </a:ext>
            </a:extLst>
      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9639553" y="4947168"/>
            <a:ext cx="3972079" cy="2064970"/>
          </a:xfrm>
          <a:prstGeom prst="rect">
            <a:avLst/>
          </a:prstGeom>
        </p:spPr>
      </p:pic>
      <p:pic>
        <p:nvPicPr>
          <p:cNvPr id="136" name="Picture 135" descr="A close-up of a branch&#10;&#10;AI-generated content may be incorrect.">
            <a:extLst>
              <a:ext uri="{FF2B5EF4-FFF2-40B4-BE49-F238E27FC236}">
                <a16:creationId xmlns:a16="http://schemas.microsoft.com/office/drawing/2014/main" xmlns="" id="{BD2F1194-4656-355C-483B-61D30877B455}"/>
              </a:ext>
            </a:extLst>
      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646961" y="7968565"/>
            <a:ext cx="2770345" cy="2520733"/>
          </a:xfrm>
          <a:prstGeom prst="rect">
            <a:avLst/>
          </a:prstGeom>
        </p:spPr>
      </p:pic>
      <p:pic>
        <p:nvPicPr>
          <p:cNvPr id="140" name="Picture 139" descr="A close-up of several colorful ribbons&#10;&#10;AI-generated content may be incorrect.">
            <a:extLst>
              <a:ext uri="{FF2B5EF4-FFF2-40B4-BE49-F238E27FC236}">
                <a16:creationId xmlns:a16="http://schemas.microsoft.com/office/drawing/2014/main" xmlns="" id="{08E49BAA-55E2-AAEE-76BD-2602C5901C39}"/>
              </a:ext>
            </a:extLst>
          </p:cNvPr>
          <p:cNvPicPr>
            <a:picLocks noChangeAspect="1"/>
          </p:cNvPicPr>
          <p:nvPr/>
        </p:nvPicPr>
        <p:blipFill>
          <a:blip r:embed="rId2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38570" y="12040573"/>
            <a:ext cx="3657755" cy="2076128"/>
          </a:xfrm>
          <a:prstGeom prst="rect">
            <a:avLst/>
          </a:prstGeom>
        </p:spPr>
      </p:pic>
      <p:pic>
        <p:nvPicPr>
          <p:cNvPr id="142" name="Picture 141" descr="A screenshot of a computer&#10;&#10;AI-generated content may be incorrect.">
            <a:extLst>
              <a:ext uri="{FF2B5EF4-FFF2-40B4-BE49-F238E27FC236}">
                <a16:creationId xmlns:a16="http://schemas.microsoft.com/office/drawing/2014/main" xmlns="" id="{546C8F7B-4CC2-4665-5847-F0A990942DEA}"/>
              </a:ext>
            </a:extLst>
      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505328" y="15370110"/>
            <a:ext cx="2897425" cy="2782762"/>
          </a:xfrm>
          <a:prstGeom prst="rect">
            <a:avLst/>
          </a:prstGeom>
        </p:spPr>
      </p:pic>
      <p:pic>
        <p:nvPicPr>
          <p:cNvPr id="144" name="Picture 143" descr="A diagram of a tree&#10;&#10;AI-generated content may be incorrect.">
            <a:extLst>
              <a:ext uri="{FF2B5EF4-FFF2-40B4-BE49-F238E27FC236}">
                <a16:creationId xmlns:a16="http://schemas.microsoft.com/office/drawing/2014/main" xmlns="" id="{829A6825-156B-965C-8CAA-130E2DC37016}"/>
              </a:ext>
            </a:extLst>
      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10158139" y="8250745"/>
            <a:ext cx="3541228" cy="2765275"/>
          </a:xfrm>
          <a:prstGeom prst="rect">
            <a:avLst/>
          </a:prstGeom>
        </p:spPr>
      </p:pic>
      <p:pic>
        <p:nvPicPr>
          <p:cNvPr id="148" name="Picture 147" descr="A diagram of a cell&#10;&#10;AI-generated content may be incorrect.">
            <a:extLst>
              <a:ext uri="{FF2B5EF4-FFF2-40B4-BE49-F238E27FC236}">
                <a16:creationId xmlns:a16="http://schemas.microsoft.com/office/drawing/2014/main" xmlns="" id="{421512A3-7532-06A9-23DD-8654EAE799F2}"/>
              </a:ext>
            </a:extLst>
          </p:cNvPr>
          <p:cNvPicPr>
            <a:picLocks noChangeAspect="1"/>
          </p:cNvPicPr>
          <p:nvPr/>
        </p:nvPicPr>
        <p:blipFill>
          <a:blip r:embed="rId3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49575" y="15312711"/>
            <a:ext cx="3556075" cy="297264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86</TotalTime>
  <Words>241</Words>
  <Application>Microsoft Office PowerPoint</Application>
  <PresentationFormat>Custom</PresentationFormat>
  <Paragraphs>63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Arial Black</vt:lpstr>
      <vt:lpstr>Calibri</vt:lpstr>
      <vt:lpstr>Tahoma</vt:lpstr>
      <vt:lpstr>Times New Roman</vt:lpstr>
      <vt:lpstr>Verdana</vt:lpstr>
      <vt:lpstr>Office Theme</vt:lpstr>
      <vt:lpstr>Computational Analysis of Unknown DNA Sequences Using Integrated Bioinformatics Tools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Portrait University Research Poster in Blue Pink Playful and Illustrative Style</dc:title>
  <dc:creator>Saliha QAU</dc:creator>
  <cp:keywords>DAG60cIhnu0,BAG6P9NUaP4,0</cp:keywords>
  <cp:lastModifiedBy>sam-pc</cp:lastModifiedBy>
  <cp:revision>8</cp:revision>
  <dcterms:created xsi:type="dcterms:W3CDTF">2025-12-24T12:54:17Z</dcterms:created>
  <dcterms:modified xsi:type="dcterms:W3CDTF">2025-12-26T08:02:20Z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2025-12-17T00:00:00Z</vt:filetime>
  </property>
  <property fmtid="{D5CDD505-2E9C-101B-9397-08002B2CF9AE}" pid="3" name="Creator">
    <vt:lpwstr>Canva</vt:lpwstr>
  </property>
  <property fmtid="{D5CDD505-2E9C-101B-9397-08002B2CF9AE}" pid="4" name="LastSaved">
    <vt:filetime>2025-12-24T00:00:00Z</vt:filetime>
  </property>
  <property fmtid="{D5CDD505-2E9C-101B-9397-08002B2CF9AE}" pid="5" name="Producer">
    <vt:lpwstr>Canva</vt:lpwstr>
  </property>
</Properties>
</file>